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3" d="100"/>
          <a:sy n="63" d="100"/>
        </p:scale>
        <p:origin x="780" y="64"/>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6/26/2025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The argument, not the feature list. Nothing here is asserted without a measurement behind it. Say the sentence out loud: 'If the control room dies, the aisle should not.' The right-hand panel is the real dashboard at tick 44, and the three questions at the bottom right are the exact ones this PS is judged on - who assigns tasks, who has right of way, what happens with stale state. Every answer is 'locally, by the robots'. The banner strip is the running dashboard's own header, not a mock-up.</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Technologies and method, all read from simulation/config.py and docs/methodology.md. Emphasise that there is no build step and no dependency: this is why it demos reliably in a room with bad Wi-Fi. The pipeline strip is the per-tick decide-act loop; the point to make out loud is that no stage has a central caller. The radio panel is the strongest single piece of evidence of decentralization: Robot A knows Robot B from that feed. 9 unit tests, 3 experiments, ~0.09 ms per robot step.</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Feasibility and viability, including the parts we are not claiming. Be first to say that the radio, the obstacle sensing, battery drain and edge CPU time are simulated, that the kinematics is a grid, and that step_ms is a laptop clock proxy. Then the honest part that wins credibility: collisions are 0 vs 2 in E1 (0 vs 0 in E2, 0 vs 0 in E3) (UBPA vs stop-and-wait), and improvement is null because the baseline never finished - so we publish raw values and no percentage. The three cards are the only headline numbers in the deck: 93/50/99 ticks, 0 deadlocks, 0.09 ms. MEASURED panel values come from results/metrics.json; the LIVE panel is the current run in the browser and will differ tick for tick. For the radio sliders, results/degradation.json is the source: 40% loss still finishes 6/6 with no deadlock (137–196 ticks), a 3-tick delay finishes 6/6 at 103 ticks with 0 conflicts, and even 70% loss finishes in 141-213 ticks. Turn RC2 off and the 3-tick case finishes sooner (94 ticks) but with 3 intention conflicts instead of 0; turn all five fixes off and it stops at 3/6 jobs with 577 conflicts - that is the attribution, and it is in probe_26123_ablation.json.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Impact and benefits. The side-by-side is the money shot: identical seed, identical map, identical tick - the only difference is the conflict policy. Left: 3/6 done, 0 deadlocks. Right: 0/6 done, 2 deadlocks, aisle frozen. Keep the language concrete: deadlock is downtime, so removing it is the return, and 6/6 vs 0/6 is the throughput statement. If the fleet-size question comes up, the measured answer is: 8 robots / 16 tasks finish on 5/5 seeds at 327 ticks, stop-and-wait 0/5, and the 6- and 10-robot cases finish too (5/5 and 5/5). If a judge asks about distance rising for UBPA, answer it directly: the baseline's distance is low because it stops and never finishes the work. Then volunteer the collision caveat before they find it.</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References. Attribute the algorithms, not this deck. Stern et al. 2019 is the MAPF framing; Silver 2005 is the original decentralized conflict-resolution formulation; Sharon et al. 2015 (CBS) is the centralized optimum we deliberately do not depend on; VDA 5050 is the boundary standard our edge deployment would speak, not the coordination we use. The right column is the credibility line: anyone can rerun the experiments and the 9 tests and get the same numbers, and the two forbidden patterns are enforced by those tests.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page. Two fields are intentionally left as placeholders: Team ID and Team Name come from the team's own SIH portal registration. Problem statement SIH26123 - Edge-AI Based Distributed Fleet Coordination for Autonomous Mobile Robots in Smart Warehouses. Theme: Robotics and Drones. PS Category: Software. Ministry/Organisation: Bharat Electronics Limited. Read from the official problem-statement table. The template header still reads 'SMART INDIA HACKATHON 2025' because that is the supplied template.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6/26/2025</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6/26/2025</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6/26/2025</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6/26/2025</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6/26/2025</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6/26/2025</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7.pn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wrap="square"/>
          <a:lstStyle/>
          <a:p>
            <a:pPr algn="ctr">
              <a:spcBef>
                <a:spcPts val="0"/>
              </a:spcBef>
              <a:spcAft>
                <a:spcPts val="500"/>
              </a:spcAft>
            </a:pPr>
            <a:r>
              <a:rPr sz="3000" b="1">
                <a:solidFill>
                  <a:srgbClr val="143A5E"/>
                </a:solidFill>
                <a:latin typeface="Times New Roman"/>
              </a:rPr>
              <a:t>EDGE FLEET</a:t>
            </a:r>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a:p>
            <a:pPr algn="ctr">
              <a:spcBef>
                <a:spcPts val="100"/>
              </a:spcBef>
              <a:spcAft>
                <a:spcPts val="0"/>
              </a:spcAft>
            </a:pPr>
            <a:r>
              <a:rPr sz="1300" b="0" i="1">
                <a:solidFill>
                  <a:srgbClr val="0B6EA8"/>
                </a:solidFill>
                <a:latin typeface="Arial"/>
              </a:rPr>
              <a:t>If the control room dies, the aisle should not.</a:t>
            </a:r>
          </a:p>
          <a:p>
            <a:pPr algn="ctr">
              <a:spcBef>
                <a:spcPts val="100"/>
              </a:spcBef>
              <a:spcAft>
                <a:spcPts val="0"/>
              </a:spcAft>
            </a:pPr>
            <a:r>
              <a:rPr sz="1000" b="0">
                <a:solidFill>
                  <a:srgbClr val="525252"/>
                </a:solidFill>
                <a:latin typeface="Arial"/>
              </a:rPr>
              <a:t>Edge-AI Based Distributed Fleet Coordination for Autonomous Mobile Robots in Smart Warehouses</a:t>
            </a: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2025</a:t>
            </a:r>
            <a:endParaRPr lang="en-IN" sz="4000" b="1" dirty="0">
              <a:solidFill>
                <a:schemeClr val="tx2"/>
              </a:solidFill>
              <a:latin typeface="Garamond" panose="02020404030301010803" pitchFamily="18" charset="0"/>
            </a:endParaRPr>
          </a:p>
        </p:txBody>
      </p:sp>
      <p:sp>
        <p:nvSpPr>
          <p:cNvPr id="10" name="TextBox 9"/>
          <p:cNvSpPr txBox="1"/>
          <p:nvPr/>
        </p:nvSpPr>
        <p:spPr>
          <a:xfrm>
            <a:off x="331286" y="2076450"/>
            <a:ext cx="5924550" cy="4703019"/>
          </a:xfrm>
          <a:prstGeom prst="rect">
            <a:avLst/>
          </a:prstGeom>
          <a:noFill/>
        </p:spPr>
        <p:txBody>
          <a:bodyPr wrap="square" rtlCol="0">
            <a:spAutoFit/>
          </a:bodyPr>
          <a:lstStyle/>
          <a:p>
            <a:endParaRPr lang="en-US" dirty="0"/>
          </a:p>
          <a:p>
            <a:pPr marL="285750" indent="-285750" algn="just">
              <a:lnSpc>
                <a:spcPct val="100000"/>
              </a:lnSpc>
              <a:spcBef>
                <a:spcPts val="0"/>
              </a:spcBef>
              <a:spcAft>
                <a:spcPts val="600"/>
              </a:spcAft>
              <a:buFont typeface="Arial" panose="020B0604020202020204" pitchFamily="34" charset="0"/>
              <a:buChar char="•"/>
            </a:pPr>
            <a:r>
              <a:rPr sz="1400" b="0">
                <a:solidFill>
                  <a:srgbClr val="1A1A1A"/>
                </a:solidFill>
                <a:latin typeface="Arial"/>
              </a:rPr>
              <a:t>Problem Statement ID – SIH26123</a:t>
            </a:r>
          </a:p>
          <a:p>
            <a:pPr marL="285750" indent="-285750" algn="just">
              <a:lnSpc>
                <a:spcPct val="100000"/>
              </a:lnSpc>
              <a:spcBef>
                <a:spcPts val="0"/>
              </a:spcBef>
              <a:spcAft>
                <a:spcPts val="600"/>
              </a:spcAft>
              <a:buFont typeface="Arial" panose="020B0604020202020204" pitchFamily="34" charset="0"/>
              <a:buChar char="•"/>
            </a:pPr>
            <a:r>
              <a:rPr sz="1400" b="0">
                <a:solidFill>
                  <a:srgbClr val="1A1A1A"/>
                </a:solidFill>
                <a:latin typeface="Arial"/>
              </a:rPr>
              <a:t>Problem Statement Title – Edge-AI Based Distributed Fleet Coordination for Autonomous Mobile Robots in Smart Warehouses</a:t>
            </a:r>
          </a:p>
          <a:p>
            <a:pPr marL="285750" indent="-285750" algn="just">
              <a:lnSpc>
                <a:spcPct val="100000"/>
              </a:lnSpc>
              <a:spcBef>
                <a:spcPts val="0"/>
              </a:spcBef>
              <a:spcAft>
                <a:spcPts val="600"/>
              </a:spcAft>
              <a:buFont typeface="Arial" panose="020B0604020202020204" pitchFamily="34" charset="0"/>
              <a:buChar char="•"/>
            </a:pPr>
            <a:r>
              <a:rPr sz="1400" b="0">
                <a:solidFill>
                  <a:srgbClr val="1A1A1A"/>
                </a:solidFill>
                <a:latin typeface="Arial"/>
              </a:rPr>
              <a:t>Theme – Robotics and Drones</a:t>
            </a:r>
          </a:p>
          <a:p>
            <a:pPr marL="285750" indent="-285750" algn="just">
              <a:lnSpc>
                <a:spcPct val="100000"/>
              </a:lnSpc>
              <a:spcBef>
                <a:spcPts val="0"/>
              </a:spcBef>
              <a:spcAft>
                <a:spcPts val="600"/>
              </a:spcAft>
              <a:buFont typeface="Arial" panose="020B0604020202020204" pitchFamily="34" charset="0"/>
              <a:buChar char="•"/>
            </a:pPr>
            <a:r>
              <a:rPr sz="1400" b="0">
                <a:solidFill>
                  <a:srgbClr val="1A1A1A"/>
                </a:solidFill>
                <a:latin typeface="Arial"/>
              </a:rPr>
              <a:t>PS Category – Software</a:t>
            </a:r>
          </a:p>
          <a:p>
            <a:pPr marL="285750" indent="-285750" algn="just">
              <a:lnSpc>
                <a:spcPct val="100000"/>
              </a:lnSpc>
              <a:spcBef>
                <a:spcPts val="0"/>
              </a:spcBef>
              <a:spcAft>
                <a:spcPts val="600"/>
              </a:spcAft>
              <a:buFont typeface="Arial" panose="020B0604020202020204" pitchFamily="34" charset="0"/>
              <a:buChar char="•"/>
            </a:pPr>
            <a:r>
              <a:rPr sz="1400" b="1">
                <a:solidFill>
                  <a:srgbClr val="A61B1B"/>
                </a:solidFill>
                <a:latin typeface="Arial"/>
              </a:rPr>
              <a:t>Team ID – «Team ID from portal»</a:t>
            </a:r>
          </a:p>
          <a:p>
            <a:pPr marL="285750" indent="-285750" algn="just">
              <a:lnSpc>
                <a:spcPct val="100000"/>
              </a:lnSpc>
              <a:spcBef>
                <a:spcPts val="0"/>
              </a:spcBef>
              <a:spcAft>
                <a:spcPts val="600"/>
              </a:spcAft>
              <a:buFont typeface="Arial" panose="020B0604020202020204" pitchFamily="34" charset="0"/>
              <a:buChar char="•"/>
            </a:pPr>
            <a:r>
              <a:rPr sz="1400" b="1">
                <a:solidFill>
                  <a:srgbClr val="A61B1B"/>
                </a:solidFill>
                <a:latin typeface="Arial"/>
              </a:rPr>
              <a:t>Team Name (Registered on portal) – «Team Name»</a:t>
            </a:r>
            <a:endParaRPr lang="en-IN" sz="2400" b="1" dirty="0">
              <a:latin typeface="Arial" panose="020B0604020202020204" pitchFamily="34" charset="0"/>
              <a:cs typeface="Arial" panose="020B0604020202020204" pitchFamily="34" charset="0"/>
            </a:endParaRPr>
          </a:p>
        </p:txBody>
      </p:sp>
      <p:pic>
        <p:nvPicPr>
          <p:cNvPr id="1026"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62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027" name="Rounded Rectangle 1026"/>
          <p:cNvSpPr/>
          <p:nvPr/>
        </p:nvSpPr>
        <p:spPr>
          <a:xfrm>
            <a:off x="329184" y="4983480"/>
            <a:ext cx="5212080" cy="1207008"/>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28" name="TextBox 1027"/>
          <p:cNvSpPr txBox="1"/>
          <p:nvPr/>
        </p:nvSpPr>
        <p:spPr>
          <a:xfrm>
            <a:off x="420624" y="5038344"/>
            <a:ext cx="5029200" cy="1097280"/>
          </a:xfrm>
          <a:prstGeom prst="rect">
            <a:avLst/>
          </a:prstGeom>
          <a:noFill/>
        </p:spPr>
        <p:txBody>
          <a:bodyPr wrap="square" lIns="18288" rIns="18288" tIns="9144" bIns="9144" anchor="t">
            <a:spAutoFit/>
          </a:bodyPr>
          <a:lstStyle/>
          <a:p>
            <a:pPr marL="146304" indent="-146304">
              <a:spcBef>
                <a:spcPts val="0"/>
              </a:spcBef>
              <a:spcAft>
                <a:spcPts val="250"/>
              </a:spcAft>
            </a:pPr>
            <a:r>
              <a:rPr sz="1050" b="0">
                <a:solidFill>
                  <a:srgbClr val="1A1A1A"/>
                </a:solidFill>
                <a:latin typeface="Arial"/>
              </a:rPr>
              <a:t>•  3 AMRs · no dispatcher · peer-to-peer radio only. The dashboard is a spectator, never a controller.</a:t>
            </a:r>
          </a:p>
          <a:p>
            <a:pPr marL="146304" indent="-146304">
              <a:spcBef>
                <a:spcPts val="0"/>
              </a:spcBef>
              <a:spcAft>
                <a:spcPts val="250"/>
              </a:spcAft>
            </a:pPr>
            <a:r>
              <a:rPr sz="1050" b="0">
                <a:solidFill>
                  <a:srgbClr val="1A1A1A"/>
                </a:solidFill>
                <a:latin typeface="Arial"/>
              </a:rPr>
              <a:t>•  Measured at a 800-tick limit: stop-and-wait never completes an experiment; UBPA finishes E1 in 93 ticks, 6/6 tasks, 0 deadlocks.</a:t>
            </a:r>
          </a:p>
          <a:p>
            <a:pPr marL="146304" indent="-146304">
              <a:spcBef>
                <a:spcPts val="0"/>
              </a:spcBef>
              <a:spcAft>
                <a:spcPts val="250"/>
              </a:spcAft>
            </a:pPr>
            <a:r>
              <a:rPr sz="1050" b="0">
                <a:solidFill>
                  <a:srgbClr val="1A1A1A"/>
                </a:solidFill>
                <a:latin typeface="Arial"/>
              </a:rPr>
              <a:t>•  Python 3.10+ standard library only — no pip install, no build step, no GPU, no cloud.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wrap="square"/>
          <a:lstStyle/>
          <a:p>
            <a:pPr eaLnBrk="1" hangingPunct="1" algn="ctr">
              <a:spcBef>
                <a:spcPts val="0"/>
              </a:spcBef>
              <a:spcAft>
                <a:spcPts val="500"/>
              </a:spcAft>
            </a:pPr>
            <a:r>
              <a:rPr sz="3200" b="1">
                <a:solidFill>
                  <a:srgbClr val="143A5E"/>
                </a:solidFill>
                <a:latin typeface="Times New Roman"/>
              </a:rPr>
              <a:t>IDEA TITLE</a:t>
            </a:r>
          </a:p>
          <a:p>
            <a:pPr algn="ctr">
              <a:spcBef>
                <a:spcPts val="0"/>
              </a:spcBef>
              <a:spcAft>
                <a:spcPts val="500"/>
              </a:spcAft>
            </a:pPr>
            <a:r>
              <a:rPr sz="1400" b="1">
                <a:solidFill>
                  <a:srgbClr val="0B6EA8"/>
                </a:solidFill>
                <a:latin typeface="Arial"/>
              </a:rPr>
              <a:t>EDGE FLEET — robots that negotiate the aisle instead of waiting for a scheduler</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12"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5362" name="TextBox 15361"/>
          <p:cNvSpPr txBox="1"/>
          <p:nvPr/>
        </p:nvSpPr>
        <p:spPr>
          <a:xfrm>
            <a:off x="411480" y="1188720"/>
            <a:ext cx="7223760" cy="4498848"/>
          </a:xfrm>
          <a:prstGeom prst="rect">
            <a:avLst/>
          </a:prstGeom>
          <a:noFill/>
        </p:spPr>
        <p:txBody>
          <a:bodyPr wrap="square" lIns="18288" rIns="18288" tIns="9144" bIns="9144" anchor="t">
            <a:spAutoFit/>
          </a:bodyPr>
          <a:lstStyle/>
          <a:p>
            <a:pPr>
              <a:spcBef>
                <a:spcPts val="0"/>
              </a:spcBef>
              <a:spcAft>
                <a:spcPts val="500"/>
              </a:spcAft>
            </a:pPr>
            <a:r>
              <a:rPr sz="980" b="1">
                <a:solidFill>
                  <a:srgbClr val="143A5E"/>
                </a:solidFill>
                <a:latin typeface="Arial"/>
              </a:rPr>
              <a:t>If the control room dies, the aisle should not. Three warehouse AMRs with no central dispatcher: each robot broadcasts its own state, bids for work, detects conflict on a peer's plan and yields by an explainable rule — so the fleet keeps moving when one robot, or the radio, misbehaves.</a:t>
            </a:r>
          </a:p>
          <a:p>
            <a:pPr>
              <a:spcBef>
                <a:spcPts val="500"/>
              </a:spcBef>
              <a:spcAft>
                <a:spcPts val="200"/>
              </a:spcAft>
            </a:pPr>
            <a:r>
              <a:rPr sz="940" b="1">
                <a:solidFill>
                  <a:srgbClr val="0B6EA8"/>
                </a:solidFill>
                <a:latin typeface="Arial"/>
              </a:rPr>
              <a:t>Proposed Solution (Describe your Idea/Solution/Prototype)</a:t>
            </a:r>
          </a:p>
          <a:p>
            <a:pPr>
              <a:spcBef>
                <a:spcPts val="0"/>
              </a:spcBef>
              <a:spcAft>
                <a:spcPts val="300"/>
              </a:spcAft>
            </a:pPr>
            <a:r>
              <a:rPr sz="900" b="0">
                <a:solidFill>
                  <a:srgbClr val="1A1A1A"/>
                </a:solidFill>
                <a:latin typeface="Arial"/>
              </a:rPr>
              <a:t>A Python 3.10+ standard-library prototype: 3+ autonomous AMRs on a Hyderabad 3PL warehouse grid, each running its own space-time A* planner and its own auction. One terminal is the clock (8 Hz); the browser dashboard is a spectator, never a controller.</a:t>
            </a:r>
          </a:p>
          <a:p>
            <a:pPr>
              <a:spcBef>
                <a:spcPts val="500"/>
              </a:spcBef>
              <a:spcAft>
                <a:spcPts val="200"/>
              </a:spcAft>
            </a:pPr>
            <a:r>
              <a:rPr sz="940" b="1">
                <a:solidFill>
                  <a:srgbClr val="0B6EA8"/>
                </a:solidFill>
                <a:latin typeface="Arial"/>
              </a:rPr>
              <a:t>Detailed explanation of the proposed solution</a:t>
            </a:r>
          </a:p>
          <a:p>
            <a:pPr marL="146304" indent="-146304">
              <a:spcBef>
                <a:spcPts val="0"/>
              </a:spcBef>
              <a:spcAft>
                <a:spcPts val="250"/>
              </a:spcAft>
            </a:pPr>
            <a:r>
              <a:rPr sz="860" b="0">
                <a:solidFill>
                  <a:srgbClr val="1A1A1A"/>
                </a:solidFill>
                <a:latin typeface="Arial"/>
              </a:rPr>
              <a:t>•  Every tick each robot broadcasts PeerState — robot_id, position, velocity, current_task, planned_path, battery, priority, timestamp, status. That packet is the only channel between robots.</a:t>
            </a:r>
          </a:p>
          <a:p>
            <a:pPr marL="146304" indent="-146304">
              <a:spcBef>
                <a:spcPts val="0"/>
              </a:spcBef>
              <a:spcAft>
                <a:spcPts val="250"/>
              </a:spcAft>
            </a:pPr>
            <a:r>
              <a:rPr sz="860" b="0">
                <a:solidFill>
                  <a:srgbClr val="1A1A1A"/>
                </a:solidFill>
                <a:latin typeface="Arial"/>
              </a:rPr>
              <a:t>•  Work is allocated by auction, not assignment: cost = distance + battery penalty + congestion + workload, and the lowest valid bid wins by each robot's own argmin. Tie-break on robot_id, so no referee exists.</a:t>
            </a:r>
          </a:p>
          <a:p>
            <a:pPr marL="146304" indent="-146304">
              <a:spcBef>
                <a:spcPts val="0"/>
              </a:spcBef>
              <a:spcAft>
                <a:spcPts val="250"/>
              </a:spcAft>
            </a:pPr>
            <a:r>
              <a:rPr sz="860" b="0">
                <a:solidFill>
                  <a:srgbClr val="1A1A1A"/>
                </a:solidFill>
                <a:latin typeface="Arial"/>
              </a:rPr>
              <a:t>•  Conflict is detected from a peer's *broadcast* planned_path — never a central occupancy oracle — then settled locally with YIELD_QUERY / YIELD_ACK / YIELD_NACK.</a:t>
            </a:r>
          </a:p>
          <a:p>
            <a:pPr marL="146304" indent="-146304">
              <a:spcBef>
                <a:spcPts val="0"/>
              </a:spcBef>
              <a:spcAft>
                <a:spcPts val="250"/>
              </a:spcAft>
            </a:pPr>
            <a:r>
              <a:rPr sz="860" b="0">
                <a:solidFill>
                  <a:srgbClr val="1A1A1A"/>
                </a:solidFill>
                <a:latin typeface="Arial"/>
              </a:rPr>
              <a:t>•  UBPA right-of-way picks who keeps the aisle; the loser reverse-plans to the nearest turnout, waits, and resumes.</a:t>
            </a:r>
          </a:p>
          <a:p>
            <a:pPr marL="146304" indent="-146304">
              <a:spcBef>
                <a:spcPts val="0"/>
              </a:spcBef>
              <a:spcAft>
                <a:spcPts val="250"/>
              </a:spcAft>
            </a:pPr>
            <a:r>
              <a:rPr sz="860" b="0">
                <a:solidFill>
                  <a:srgbClr val="1A1A1A"/>
                </a:solidFill>
                <a:latin typeface="Arial"/>
              </a:rPr>
              <a:t>•  Block a cell live and the sensing robot broadcasts OBSTACLE; if a pick becomes unreachable the holder RELEASEs it and the peers re-auction.</a:t>
            </a:r>
          </a:p>
          <a:p>
            <a:pPr>
              <a:spcBef>
                <a:spcPts val="500"/>
              </a:spcBef>
              <a:spcAft>
                <a:spcPts val="200"/>
              </a:spcAft>
            </a:pPr>
            <a:r>
              <a:rPr sz="940" b="1">
                <a:solidFill>
                  <a:srgbClr val="0B6EA8"/>
                </a:solidFill>
                <a:latin typeface="Arial"/>
              </a:rPr>
              <a:t>How it addresses the problem</a:t>
            </a:r>
          </a:p>
          <a:p>
            <a:pPr marL="146304" indent="-146304">
              <a:spcBef>
                <a:spcPts val="0"/>
              </a:spcBef>
              <a:spcAft>
                <a:spcPts val="250"/>
              </a:spcAft>
            </a:pPr>
            <a:r>
              <a:rPr sz="860" b="0">
                <a:solidFill>
                  <a:srgbClr val="1A1A1A"/>
                </a:solidFill>
                <a:latin typeface="Arial"/>
              </a:rPr>
              <a:t>•  Warehouse fleets are normally coordinated by one dispatcher — a single point of failure and a scaling ceiling. Put the decision inside each robot and the aisle survives the control room.</a:t>
            </a:r>
          </a:p>
          <a:p>
            <a:pPr marL="146304" indent="-146304">
              <a:spcBef>
                <a:spcPts val="0"/>
              </a:spcBef>
              <a:spcAft>
                <a:spcPts val="250"/>
              </a:spcAft>
            </a:pPr>
            <a:r>
              <a:rPr sz="860" b="0">
                <a:solidFill>
                  <a:srgbClr val="1A1A1A"/>
                </a:solidFill>
                <a:latin typeface="Arial"/>
              </a:rPr>
              <a:t>•  Degraded radio is measured, not assumed (results/degradation.json): at 40% packet loss the same 6/6 jobs still finish with 0 deadlocks — just later (137–196 ticks vs 93 clean); at 70% loss the fleet still finishes 6/6 in 141–213 ticks; and the fleet sweep finishes 8 robots / 16 tasks finish on 5/5 seeds at 327 ticks.</a:t>
            </a:r>
          </a:p>
          <a:p>
            <a:pPr>
              <a:spcBef>
                <a:spcPts val="500"/>
              </a:spcBef>
              <a:spcAft>
                <a:spcPts val="200"/>
              </a:spcAft>
            </a:pPr>
            <a:r>
              <a:rPr sz="940" b="1">
                <a:solidFill>
                  <a:srgbClr val="0B6EA8"/>
                </a:solidFill>
                <a:latin typeface="Arial"/>
              </a:rPr>
              <a:t>Innovation and uniqueness of the solution</a:t>
            </a:r>
          </a:p>
          <a:p>
            <a:pPr marL="146304" indent="-146304">
              <a:spcBef>
                <a:spcPts val="0"/>
              </a:spcBef>
              <a:spcAft>
                <a:spcPts val="250"/>
              </a:spcAft>
            </a:pPr>
            <a:r>
              <a:rPr sz="860" b="0">
                <a:solidFill>
                  <a:srgbClr val="1A1A1A"/>
                </a:solidFill>
                <a:latin typeface="Arial"/>
              </a:rPr>
              <a:t>•  UBPA is our own rule — score = 4.0×task_urgency + 2.0×battery/100 + 1.5×priority + 1.0×arrival_bonus; the lower score yields to a turnout. A stalemate timeout on the lower robot_id is the safety net, not the rule.</a:t>
            </a:r>
          </a:p>
          <a:p>
            <a:pPr marL="146304" indent="-146304">
              <a:spcBef>
                <a:spcPts val="0"/>
              </a:spcBef>
              <a:spcAft>
                <a:spcPts val="250"/>
              </a:spcAft>
            </a:pPr>
            <a:r>
              <a:rPr sz="860" b="0">
                <a:solidFill>
                  <a:srgbClr val="1A1A1A"/>
                </a:solidFill>
                <a:latin typeface="Arial"/>
              </a:rPr>
              <a:t>•  Decentralization is *tested*, not promised: 9 unit tests fail the build if a central scheduler or a hardcoded demo winner appears.</a:t>
            </a:r>
          </a:p>
          <a:p>
            <a:pPr marL="146304" indent="-146304">
              <a:spcBef>
                <a:spcPts val="0"/>
              </a:spcBef>
              <a:spcAft>
                <a:spcPts val="250"/>
              </a:spcAft>
            </a:pPr>
            <a:r>
              <a:rPr sz="860" b="0">
                <a:solidFill>
                  <a:srgbClr val="1A1A1A"/>
                </a:solidFill>
                <a:latin typeface="Arial"/>
              </a:rPr>
              <a:t>•  Nothing is inflated — improvement is null in metrics.json because the baseline never finished, so this deck quotes raw values only.</a:t>
            </a:r>
          </a:p>
        </p:txBody>
      </p:sp>
      <p:pic>
        <p:nvPicPr>
          <p:cNvPr id="15363" name="Picture 15362" descr="A_ubpa_header_header.png"/>
          <p:cNvPicPr>
            <a:picLocks noChangeAspect="1"/>
          </p:cNvPicPr>
          <p:nvPr/>
        </p:nvPicPr>
        <p:blipFill>
          <a:blip r:embed="rId4"/>
          <a:stretch>
            <a:fillRect/>
          </a:stretch>
        </p:blipFill>
        <p:spPr>
          <a:xfrm>
            <a:off x="411480" y="5760720"/>
            <a:ext cx="7223760" cy="433425"/>
          </a:xfrm>
          <a:prstGeom prst="rect">
            <a:avLst/>
          </a:prstGeom>
        </p:spPr>
      </p:pic>
      <p:sp>
        <p:nvSpPr>
          <p:cNvPr id="15364" name="Rounded Rectangle 15363"/>
          <p:cNvSpPr/>
          <p:nvPr/>
        </p:nvSpPr>
        <p:spPr>
          <a:xfrm>
            <a:off x="7818120" y="1188720"/>
            <a:ext cx="3931920" cy="498348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5365" name="Picture 15364" descr="A_ubpa_floor_floor.png"/>
          <p:cNvPicPr>
            <a:picLocks noChangeAspect="1"/>
          </p:cNvPicPr>
          <p:nvPr/>
        </p:nvPicPr>
        <p:blipFill>
          <a:blip r:embed="rId5"/>
          <a:stretch>
            <a:fillRect/>
          </a:stretch>
        </p:blipFill>
        <p:spPr>
          <a:xfrm>
            <a:off x="7946136" y="1298448"/>
            <a:ext cx="3675887" cy="1698430"/>
          </a:xfrm>
          <a:prstGeom prst="rect">
            <a:avLst/>
          </a:prstGeom>
        </p:spPr>
      </p:pic>
      <p:sp>
        <p:nvSpPr>
          <p:cNvPr id="15366" name="TextBox 15365"/>
          <p:cNvSpPr txBox="1"/>
          <p:nvPr/>
        </p:nvSpPr>
        <p:spPr>
          <a:xfrm>
            <a:off x="7927848" y="3033454"/>
            <a:ext cx="3712463" cy="71323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PROOF — the live floor at tick 44: three AMRs, their planned paths, and 3 of 6 tasks already done with 0 deadlocks. Captured from the running dashboard.</a:t>
            </a:r>
          </a:p>
        </p:txBody>
      </p:sp>
      <p:sp>
        <p:nvSpPr>
          <p:cNvPr id="15367" name="Rounded Rectangle 15366"/>
          <p:cNvSpPr/>
          <p:nvPr/>
        </p:nvSpPr>
        <p:spPr>
          <a:xfrm>
            <a:off x="7946136" y="3767328"/>
            <a:ext cx="3675887" cy="2286000"/>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368" name="TextBox 15367"/>
          <p:cNvSpPr txBox="1"/>
          <p:nvPr/>
        </p:nvSpPr>
        <p:spPr>
          <a:xfrm>
            <a:off x="8037575" y="3840480"/>
            <a:ext cx="3493008" cy="2139696"/>
          </a:xfrm>
          <a:prstGeom prst="rect">
            <a:avLst/>
          </a:prstGeom>
          <a:noFill/>
        </p:spPr>
        <p:txBody>
          <a:bodyPr wrap="square" lIns="18288" rIns="18288" tIns="9144" bIns="9144" anchor="t">
            <a:spAutoFit/>
          </a:bodyPr>
          <a:lstStyle/>
          <a:p>
            <a:pPr>
              <a:spcBef>
                <a:spcPts val="500"/>
              </a:spcBef>
              <a:spcAft>
                <a:spcPts val="200"/>
              </a:spcAft>
            </a:pPr>
            <a:r>
              <a:rPr sz="1330" b="1">
                <a:solidFill>
                  <a:srgbClr val="0B6EA8"/>
                </a:solidFill>
                <a:latin typeface="Arial"/>
              </a:rPr>
              <a:t>The three questions this PS is judged on</a:t>
            </a:r>
          </a:p>
          <a:p>
            <a:pPr marL="146304" indent="-146304">
              <a:spcBef>
                <a:spcPts val="0"/>
              </a:spcBef>
              <a:spcAft>
                <a:spcPts val="250"/>
              </a:spcAft>
            </a:pPr>
            <a:r>
              <a:rPr sz="1220" b="0">
                <a:solidFill>
                  <a:srgbClr val="1A1A1A"/>
                </a:solidFill>
                <a:latin typeface="Arial"/>
              </a:rPr>
              <a:t>•  Who assigns tasks? Nobody — each robot bids and independently checks who won.</a:t>
            </a:r>
          </a:p>
          <a:p>
            <a:pPr marL="146304" indent="-146304">
              <a:spcBef>
                <a:spcPts val="0"/>
              </a:spcBef>
              <a:spcAft>
                <a:spcPts val="250"/>
              </a:spcAft>
            </a:pPr>
            <a:r>
              <a:rPr sz="1220" b="0">
                <a:solidFill>
                  <a:srgbClr val="1A1A1A"/>
                </a:solidFill>
                <a:latin typeface="Arial"/>
              </a:rPr>
              <a:t>•  Who has right of way? The UBPA score, then robot_id.</a:t>
            </a:r>
          </a:p>
          <a:p>
            <a:pPr marL="146304" indent="-146304">
              <a:spcBef>
                <a:spcPts val="0"/>
              </a:spcBef>
              <a:spcAft>
                <a:spcPts val="250"/>
              </a:spcAft>
            </a:pPr>
            <a:r>
              <a:rPr sz="1220" b="0">
                <a:solidFill>
                  <a:srgbClr val="1A1A1A"/>
                </a:solidFill>
                <a:latin typeface="Arial"/>
              </a:rPr>
              <a:t>•  What if both peers hold stale state? After 8 stalemate ticks the lower robot_id yields. No central lock is ever taken.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411480" y="1152144"/>
            <a:ext cx="7223760" cy="2670048"/>
          </a:xfrm>
          <a:prstGeom prst="rect">
            <a:avLst/>
          </a:prstGeom>
          <a:noFill/>
        </p:spPr>
        <p:txBody>
          <a:bodyPr wrap="square" lIns="18288" rIns="18288" tIns="9144" bIns="9144" anchor="t">
            <a:spAutoFit/>
          </a:bodyPr>
          <a:lstStyle/>
          <a:p>
            <a:pPr>
              <a:spcBef>
                <a:spcPts val="500"/>
              </a:spcBef>
              <a:spcAft>
                <a:spcPts val="200"/>
              </a:spcAft>
            </a:pPr>
            <a:r>
              <a:rPr sz="1100" b="1">
                <a:solidFill>
                  <a:srgbClr val="0B6EA8"/>
                </a:solidFill>
                <a:latin typeface="Arial"/>
              </a:rPr>
              <a:t>Technologies to be used (e.g. programming languages, frameworks, hardware)</a:t>
            </a:r>
          </a:p>
          <a:p>
            <a:pPr>
              <a:spcBef>
                <a:spcPts val="0"/>
              </a:spcBef>
              <a:spcAft>
                <a:spcPts val="300"/>
              </a:spcAft>
            </a:pPr>
            <a:r>
              <a:rPr sz="1060" b="0">
                <a:solidFill>
                  <a:srgbClr val="1A1A1A"/>
                </a:solidFill>
                <a:latin typeface="Arial"/>
              </a:rPr>
              <a:t>Python 3.10+ standard library only — no pip install, no build step, no GPU, no cloud, no service to configure. Dashboard: vanilla HTML/CSS/JS on stdlib http.server. Storage: JSON (results/metrics.json). Radio: an in-process peer bus with drop probability and latency. Roadmap hardware: one Raspberry-Pi-class edge computer per AMR, radio becomes UDP multicast, and the same Robot.step() runs unchanged.</a:t>
            </a:r>
          </a:p>
          <a:p>
            <a:pPr>
              <a:spcBef>
                <a:spcPts val="500"/>
              </a:spcBef>
              <a:spcAft>
                <a:spcPts val="200"/>
              </a:spcAft>
            </a:pPr>
            <a:r>
              <a:rPr sz="1100" b="1">
                <a:solidFill>
                  <a:srgbClr val="0B6EA8"/>
                </a:solidFill>
                <a:latin typeface="Arial"/>
              </a:rPr>
              <a:t>Methodology and process for implementation (Flow Charts/Images/ working prototype)</a:t>
            </a:r>
          </a:p>
          <a:p>
            <a:pPr marL="146304" indent="-146304">
              <a:spcBef>
                <a:spcPts val="0"/>
              </a:spcBef>
              <a:spcAft>
                <a:spcPts val="250"/>
              </a:spcAft>
            </a:pPr>
            <a:r>
              <a:rPr sz="1010" b="0">
                <a:solidFill>
                  <a:srgbClr val="1A1A1A"/>
                </a:solidFill>
                <a:latin typeface="Arial"/>
              </a:rPr>
              <a:t>•  Local planner: space-time A* on a 4-connected 25×11 grid; state (x, y, t); actions N/E/S/W/WAIT; peer planned_path cells become reservations; unknown future is held for HOLD_HORIZON = 4 ticks.</a:t>
            </a:r>
          </a:p>
          <a:p>
            <a:pPr marL="146304" indent="-146304">
              <a:spcBef>
                <a:spcPts val="0"/>
              </a:spcBef>
              <a:spcAft>
                <a:spcPts val="250"/>
              </a:spcAft>
            </a:pPr>
            <a:r>
              <a:rPr sz="1010" b="0">
                <a:solidFill>
                  <a:srgbClr val="1A1A1A"/>
                </a:solidFill>
                <a:latin typeface="Arial"/>
              </a:rPr>
              <a:t>•  Per robot, per tick: sense (SENSOR_RANGE 2) → receive broadcasts → update local peer table (stale dropped at 6) → auction / claim / release → detect conflict → UBPA negotiate → plan → emit ONE move intention → broadcast PeerState.</a:t>
            </a:r>
          </a:p>
          <a:p>
            <a:pPr marL="146304" indent="-146304">
              <a:spcBef>
                <a:spcPts val="0"/>
              </a:spcBef>
              <a:spcAft>
                <a:spcPts val="250"/>
              </a:spcAft>
            </a:pPr>
            <a:r>
              <a:rPr sz="1010" b="0">
                <a:solidFill>
                  <a:srgbClr val="1A1A1A"/>
                </a:solidFill>
                <a:latin typeface="Arial"/>
              </a:rPr>
              <a:t>•  Parameterised, not hardcoded: BID_WINDOW 3, LOOKAHEAD 6, STALEMATE_TICKS 8, YIELD_WAIT 6, RADIO_DELAY 1 tick, battery drain 0.18 per cell — all in simulation/config.py.</a:t>
            </a:r>
          </a:p>
          <a:p>
            <a:pPr marL="146304" indent="-146304">
              <a:spcBef>
                <a:spcPts val="0"/>
              </a:spcBef>
              <a:spcAft>
                <a:spcPts val="250"/>
              </a:spcAft>
            </a:pPr>
            <a:r>
              <a:rPr sz="1010" b="0">
                <a:solidFill>
                  <a:srgbClr val="1A1A1A"/>
                </a:solidFill>
                <a:latin typeface="Arial"/>
              </a:rPr>
              <a:t>•  Working prototype, measured: 3 AMRs · 6 tasks · 8 Hz · 3 experiments × 5/3 seeds · 9 unit tests · mean 0.09 ms per robot step.</a:t>
            </a:r>
          </a:p>
        </p:txBody>
      </p:sp>
      <p:sp>
        <p:nvSpPr>
          <p:cNvPr id="17411" name="Rounded Rectangle 17410"/>
          <p:cNvSpPr/>
          <p:nvPr/>
        </p:nvSpPr>
        <p:spPr>
          <a:xfrm>
            <a:off x="320040" y="3785615"/>
            <a:ext cx="7269480" cy="1810512"/>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2" name="TextBox 17411"/>
          <p:cNvSpPr txBox="1"/>
          <p:nvPr/>
        </p:nvSpPr>
        <p:spPr>
          <a:xfrm>
            <a:off x="411480" y="3831336"/>
            <a:ext cx="7040880" cy="25603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THE LOOP — every robot, every tick at 8 Hz. No stage has a central caller.</a:t>
            </a:r>
          </a:p>
        </p:txBody>
      </p:sp>
      <p:sp>
        <p:nvSpPr>
          <p:cNvPr id="17413" name="Rounded Rectangle 17412"/>
          <p:cNvSpPr/>
          <p:nvPr/>
        </p:nvSpPr>
        <p:spPr>
          <a:xfrm>
            <a:off x="411480"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SENSE</a:t>
            </a:r>
            <a:br/>
            <a:r>
              <a:rPr sz="750" b="0">
                <a:solidFill>
                  <a:srgbClr val="143A5E"/>
                </a:solidFill>
                <a:latin typeface="Consolas"/>
              </a:rPr>
              <a:t>blocked cell</a:t>
            </a:r>
            <a:br/>
            <a:r>
              <a:rPr sz="750" b="0">
                <a:solidFill>
                  <a:srgbClr val="143A5E"/>
                </a:solidFill>
                <a:latin typeface="Consolas"/>
              </a:rPr>
              <a:t>(range 2)</a:t>
            </a:r>
          </a:p>
        </p:txBody>
      </p:sp>
      <p:sp>
        <p:nvSpPr>
          <p:cNvPr id="17414" name="Right Arrow 17413"/>
          <p:cNvSpPr/>
          <p:nvPr/>
        </p:nvSpPr>
        <p:spPr>
          <a:xfrm>
            <a:off x="1495043"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5" name="Rounded Rectangle 17414"/>
          <p:cNvSpPr/>
          <p:nvPr/>
        </p:nvSpPr>
        <p:spPr>
          <a:xfrm>
            <a:off x="1609343"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BROADCAST</a:t>
            </a:r>
            <a:br/>
            <a:r>
              <a:rPr sz="750" b="0">
                <a:solidFill>
                  <a:srgbClr val="143A5E"/>
                </a:solidFill>
                <a:latin typeface="Consolas"/>
              </a:rPr>
              <a:t>PeerState</a:t>
            </a:r>
            <a:br/>
            <a:r>
              <a:rPr sz="750" b="0">
                <a:solidFill>
                  <a:srgbClr val="143A5E"/>
                </a:solidFill>
                <a:latin typeface="Consolas"/>
              </a:rPr>
              <a:t>every tick</a:t>
            </a:r>
          </a:p>
        </p:txBody>
      </p:sp>
      <p:sp>
        <p:nvSpPr>
          <p:cNvPr id="17416" name="Right Arrow 17415"/>
          <p:cNvSpPr/>
          <p:nvPr/>
        </p:nvSpPr>
        <p:spPr>
          <a:xfrm>
            <a:off x="2692908"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7" name="Rounded Rectangle 17416"/>
          <p:cNvSpPr/>
          <p:nvPr/>
        </p:nvSpPr>
        <p:spPr>
          <a:xfrm>
            <a:off x="2807208"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AUCTION</a:t>
            </a:r>
            <a:br/>
            <a:r>
              <a:rPr sz="750" b="0">
                <a:solidFill>
                  <a:srgbClr val="143A5E"/>
                </a:solidFill>
                <a:latin typeface="Consolas"/>
              </a:rPr>
              <a:t>lowest valid</a:t>
            </a:r>
            <a:br/>
            <a:r>
              <a:rPr sz="750" b="0">
                <a:solidFill>
                  <a:srgbClr val="143A5E"/>
                </a:solidFill>
                <a:latin typeface="Consolas"/>
              </a:rPr>
              <a:t>bid wins</a:t>
            </a:r>
          </a:p>
        </p:txBody>
      </p:sp>
      <p:sp>
        <p:nvSpPr>
          <p:cNvPr id="17418" name="Right Arrow 17417"/>
          <p:cNvSpPr/>
          <p:nvPr/>
        </p:nvSpPr>
        <p:spPr>
          <a:xfrm>
            <a:off x="3890772"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9" name="Rounded Rectangle 17418"/>
          <p:cNvSpPr/>
          <p:nvPr/>
        </p:nvSpPr>
        <p:spPr>
          <a:xfrm>
            <a:off x="4005072"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DETECT</a:t>
            </a:r>
            <a:br/>
            <a:r>
              <a:rPr sz="750" b="0">
                <a:solidFill>
                  <a:srgbClr val="143A5E"/>
                </a:solidFill>
                <a:latin typeface="Consolas"/>
              </a:rPr>
              <a:t>conflict vs</a:t>
            </a:r>
            <a:br/>
            <a:r>
              <a:rPr sz="750" b="0">
                <a:solidFill>
                  <a:srgbClr val="143A5E"/>
                </a:solidFill>
                <a:latin typeface="Consolas"/>
              </a:rPr>
              <a:t>peer path</a:t>
            </a:r>
          </a:p>
        </p:txBody>
      </p:sp>
      <p:sp>
        <p:nvSpPr>
          <p:cNvPr id="17420" name="Right Arrow 17419"/>
          <p:cNvSpPr/>
          <p:nvPr/>
        </p:nvSpPr>
        <p:spPr>
          <a:xfrm>
            <a:off x="5088636"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1" name="Rounded Rectangle 17420"/>
          <p:cNvSpPr/>
          <p:nvPr/>
        </p:nvSpPr>
        <p:spPr>
          <a:xfrm>
            <a:off x="5202936"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UBPA</a:t>
            </a:r>
            <a:br/>
            <a:r>
              <a:rPr sz="750" b="0">
                <a:solidFill>
                  <a:srgbClr val="143A5E"/>
                </a:solidFill>
                <a:latin typeface="Consolas"/>
              </a:rPr>
              <a:t>who keeps</a:t>
            </a:r>
            <a:br/>
            <a:r>
              <a:rPr sz="750" b="0">
                <a:solidFill>
                  <a:srgbClr val="143A5E"/>
                </a:solidFill>
                <a:latin typeface="Consolas"/>
              </a:rPr>
              <a:t>the aisle</a:t>
            </a:r>
          </a:p>
        </p:txBody>
      </p:sp>
      <p:sp>
        <p:nvSpPr>
          <p:cNvPr id="17422" name="Right Arrow 17421"/>
          <p:cNvSpPr/>
          <p:nvPr/>
        </p:nvSpPr>
        <p:spPr>
          <a:xfrm>
            <a:off x="6286500" y="4443983"/>
            <a:ext cx="91439" cy="219456"/>
          </a:xfrm>
          <a:prstGeom prst="rightArrow">
            <a:avLst/>
          </a:prstGeom>
          <a:solidFill>
            <a:srgbClr val="3E8FC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3" name="Rounded Rectangle 17422"/>
          <p:cNvSpPr/>
          <p:nvPr/>
        </p:nvSpPr>
        <p:spPr>
          <a:xfrm>
            <a:off x="6400799" y="4133087"/>
            <a:ext cx="1060704" cy="84124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18288" bIns="18288"/>
          <a:lstStyle/>
          <a:p>
            <a:pPr algn="ctr">
              <a:lnSpc>
                <a:spcPct val="95000"/>
              </a:lnSpc>
              <a:spcBef>
                <a:spcPts val="0"/>
              </a:spcBef>
              <a:spcAft>
                <a:spcPts val="0"/>
              </a:spcAft>
            </a:pPr>
            <a:r>
              <a:rPr sz="800" b="1">
                <a:solidFill>
                  <a:srgbClr val="143A5E"/>
                </a:solidFill>
                <a:latin typeface="Consolas"/>
              </a:rPr>
              <a:t>REPLAN</a:t>
            </a:r>
            <a:br/>
            <a:r>
              <a:rPr sz="750" b="0">
                <a:solidFill>
                  <a:srgbClr val="143A5E"/>
                </a:solidFill>
                <a:latin typeface="Consolas"/>
              </a:rPr>
              <a:t>space-time</a:t>
            </a:r>
            <a:br/>
            <a:r>
              <a:rPr sz="750" b="0">
                <a:solidFill>
                  <a:srgbClr val="143A5E"/>
                </a:solidFill>
                <a:latin typeface="Consolas"/>
              </a:rPr>
              <a:t>A*</a:t>
            </a:r>
          </a:p>
        </p:txBody>
      </p:sp>
      <p:sp>
        <p:nvSpPr>
          <p:cNvPr id="17424" name="TextBox 17423"/>
          <p:cNvSpPr txBox="1"/>
          <p:nvPr/>
        </p:nvSpPr>
        <p:spPr>
          <a:xfrm>
            <a:off x="411480" y="5029199"/>
            <a:ext cx="7040880" cy="548640"/>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Messages on the wire: PEER_STATE · TASK_ANNOUNCE (a bulletin, never an assignment) · BID · CLAIM · RELEASE · OBSTACLE · YIELD_QUERY / YIELD_ACK / YIELD_NACK. All peer-to-peer.</a:t>
            </a:r>
          </a:p>
        </p:txBody>
      </p:sp>
      <p:sp>
        <p:nvSpPr>
          <p:cNvPr id="17425" name="Rounded Rectangle 17424"/>
          <p:cNvSpPr/>
          <p:nvPr/>
        </p:nvSpPr>
        <p:spPr>
          <a:xfrm>
            <a:off x="7818120" y="1152144"/>
            <a:ext cx="3931920" cy="507492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17426" name="Picture 17425" descr="A_ubpa_radio_radio.png"/>
          <p:cNvPicPr>
            <a:picLocks noChangeAspect="1"/>
          </p:cNvPicPr>
          <p:nvPr/>
        </p:nvPicPr>
        <p:blipFill>
          <a:blip r:embed="rId4"/>
          <a:stretch>
            <a:fillRect/>
          </a:stretch>
        </p:blipFill>
        <p:spPr>
          <a:xfrm>
            <a:off x="7946136" y="1261872"/>
            <a:ext cx="3675887" cy="2906516"/>
          </a:xfrm>
          <a:prstGeom prst="rect">
            <a:avLst/>
          </a:prstGeom>
        </p:spPr>
      </p:pic>
      <p:sp>
        <p:nvSpPr>
          <p:cNvPr id="17427" name="TextBox 17426"/>
          <p:cNvSpPr txBox="1"/>
          <p:nvPr/>
        </p:nvSpPr>
        <p:spPr>
          <a:xfrm>
            <a:off x="7927848" y="4204964"/>
            <a:ext cx="3712463" cy="566928"/>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PROOF — the Radio (peer packets) panel: PEER_STATE, CLAIM and OBSTACLE traffic. This feed is the ONLY channel between robots; there is no dispatcher process.</a:t>
            </a:r>
          </a:p>
        </p:txBody>
      </p:sp>
      <p:pic>
        <p:nvPicPr>
          <p:cNvPr id="17428" name="Picture 17427" descr="A_ubpa_robots_robots.png"/>
          <p:cNvPicPr>
            <a:picLocks noChangeAspect="1"/>
          </p:cNvPicPr>
          <p:nvPr/>
        </p:nvPicPr>
        <p:blipFill>
          <a:blip r:embed="rId5"/>
          <a:stretch>
            <a:fillRect/>
          </a:stretch>
        </p:blipFill>
        <p:spPr>
          <a:xfrm>
            <a:off x="7946136" y="4826756"/>
            <a:ext cx="1801289" cy="1225296"/>
          </a:xfrm>
          <a:prstGeom prst="rect">
            <a:avLst/>
          </a:prstGeom>
        </p:spPr>
      </p:pic>
      <p:sp>
        <p:nvSpPr>
          <p:cNvPr id="17429" name="TextBox 17428"/>
          <p:cNvSpPr txBox="1"/>
          <p:nvPr/>
        </p:nvSpPr>
        <p:spPr>
          <a:xfrm>
            <a:off x="9893808" y="4826756"/>
            <a:ext cx="1783080" cy="1225296"/>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Robot state: task, battery, status, workload — held locally by each AMR and broadcast as PeerState.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Rounded Rectangle 17409"/>
          <p:cNvSpPr/>
          <p:nvPr/>
        </p:nvSpPr>
        <p:spPr>
          <a:xfrm>
            <a:off x="411480" y="1152144"/>
            <a:ext cx="2011680" cy="859536"/>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1" name="TextBox 17410"/>
          <p:cNvSpPr txBox="1"/>
          <p:nvPr/>
        </p:nvSpPr>
        <p:spPr>
          <a:xfrm>
            <a:off x="502920" y="1197864"/>
            <a:ext cx="1828800" cy="768096"/>
          </a:xfrm>
          <a:prstGeom prst="rect">
            <a:avLst/>
          </a:prstGeom>
          <a:noFill/>
        </p:spPr>
        <p:txBody>
          <a:bodyPr wrap="square">
            <a:spAutoFit/>
          </a:bodyPr>
          <a:lstStyle/>
          <a:p>
            <a:pPr>
              <a:spcBef>
                <a:spcPts val="500"/>
              </a:spcBef>
              <a:spcAft>
                <a:spcPts val="100"/>
              </a:spcAft>
            </a:pPr>
            <a:r>
              <a:rPr sz="1700" b="1">
                <a:solidFill>
                  <a:srgbClr val="186A3B"/>
                </a:solidFill>
                <a:latin typeface="Arial"/>
              </a:rPr>
              <a:t>93 · 50 · 99</a:t>
            </a:r>
          </a:p>
          <a:p>
            <a:pPr>
              <a:spcBef>
                <a:spcPts val="100"/>
              </a:spcBef>
              <a:spcAft>
                <a:spcPts val="0"/>
              </a:spcAft>
            </a:pPr>
            <a:r>
              <a:rPr sz="800" b="0">
                <a:solidFill>
                  <a:srgbClr val="525252"/>
                </a:solidFill>
                <a:latin typeface="Arial"/>
              </a:rPr>
              <a:t>ticks to finish E1/E2/E3 under UBPA; stop-and-wait never finished (0/6, 1/3, 3/6 jobs inside 800 ticks).</a:t>
            </a:r>
          </a:p>
        </p:txBody>
      </p:sp>
      <p:sp>
        <p:nvSpPr>
          <p:cNvPr id="17412" name="Rounded Rectangle 17411"/>
          <p:cNvSpPr/>
          <p:nvPr/>
        </p:nvSpPr>
        <p:spPr>
          <a:xfrm>
            <a:off x="2487168" y="1152144"/>
            <a:ext cx="2011680" cy="859536"/>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3" name="TextBox 17412"/>
          <p:cNvSpPr txBox="1"/>
          <p:nvPr/>
        </p:nvSpPr>
        <p:spPr>
          <a:xfrm>
            <a:off x="2578608" y="1197864"/>
            <a:ext cx="1828800" cy="768096"/>
          </a:xfrm>
          <a:prstGeom prst="rect">
            <a:avLst/>
          </a:prstGeom>
          <a:noFill/>
        </p:spPr>
        <p:txBody>
          <a:bodyPr wrap="square">
            <a:spAutoFit/>
          </a:bodyPr>
          <a:lstStyle/>
          <a:p>
            <a:pPr>
              <a:spcBef>
                <a:spcPts val="500"/>
              </a:spcBef>
              <a:spcAft>
                <a:spcPts val="100"/>
              </a:spcAft>
            </a:pPr>
            <a:r>
              <a:rPr sz="1700" b="1">
                <a:solidFill>
                  <a:srgbClr val="186A3B"/>
                </a:solidFill>
                <a:latin typeface="Arial"/>
              </a:rPr>
              <a:t>0 deadlocks</a:t>
            </a:r>
          </a:p>
          <a:p>
            <a:pPr>
              <a:spcBef>
                <a:spcPts val="100"/>
              </a:spcBef>
              <a:spcAft>
                <a:spcPts val="0"/>
              </a:spcAft>
            </a:pPr>
            <a:r>
              <a:rPr sz="800" b="0">
                <a:solidFill>
                  <a:srgbClr val="525252"/>
                </a:solidFill>
                <a:latin typeface="Arial"/>
              </a:rPr>
              <a:t>UBPA in all three experiments. Baseline: 2 / 2 / 3 deadlocks, only 0/6 jobs done in E1.</a:t>
            </a:r>
          </a:p>
        </p:txBody>
      </p:sp>
      <p:sp>
        <p:nvSpPr>
          <p:cNvPr id="17414" name="Rounded Rectangle 17413"/>
          <p:cNvSpPr/>
          <p:nvPr/>
        </p:nvSpPr>
        <p:spPr>
          <a:xfrm>
            <a:off x="4562856" y="1152144"/>
            <a:ext cx="2011680" cy="859536"/>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5" name="TextBox 17414"/>
          <p:cNvSpPr txBox="1"/>
          <p:nvPr/>
        </p:nvSpPr>
        <p:spPr>
          <a:xfrm>
            <a:off x="4654296" y="1197864"/>
            <a:ext cx="1828800" cy="768096"/>
          </a:xfrm>
          <a:prstGeom prst="rect">
            <a:avLst/>
          </a:prstGeom>
          <a:noFill/>
        </p:spPr>
        <p:txBody>
          <a:bodyPr wrap="square">
            <a:spAutoFit/>
          </a:bodyPr>
          <a:lstStyle/>
          <a:p>
            <a:pPr>
              <a:spcBef>
                <a:spcPts val="500"/>
              </a:spcBef>
              <a:spcAft>
                <a:spcPts val="100"/>
              </a:spcAft>
            </a:pPr>
            <a:r>
              <a:rPr sz="1700" b="1">
                <a:solidFill>
                  <a:srgbClr val="9A5A00"/>
                </a:solidFill>
                <a:latin typeface="Arial"/>
              </a:rPr>
              <a:t>0.09 ms</a:t>
            </a:r>
          </a:p>
          <a:p>
            <a:pPr>
              <a:spcBef>
                <a:spcPts val="100"/>
              </a:spcBef>
              <a:spcAft>
                <a:spcPts val="0"/>
              </a:spcAft>
            </a:pPr>
            <a:r>
              <a:rPr sz="800" b="0">
                <a:solidFill>
                  <a:srgbClr val="525252"/>
                </a:solidFill>
                <a:latin typeface="Arial"/>
              </a:rPr>
              <a:t>mean per-robot step time — a laptop-clock proxy for edge CPU, the only host-dependent field.</a:t>
            </a:r>
          </a:p>
        </p:txBody>
      </p:sp>
      <p:sp>
        <p:nvSpPr>
          <p:cNvPr id="17416" name="TextBox 17415"/>
          <p:cNvSpPr txBox="1"/>
          <p:nvPr/>
        </p:nvSpPr>
        <p:spPr>
          <a:xfrm>
            <a:off x="411480" y="2103120"/>
            <a:ext cx="6583680" cy="4123944"/>
          </a:xfrm>
          <a:prstGeom prst="rect">
            <a:avLst/>
          </a:prstGeom>
          <a:noFill/>
        </p:spPr>
        <p:txBody>
          <a:bodyPr wrap="square" lIns="18288" rIns="18288" tIns="9144" bIns="9144" anchor="t">
            <a:spAutoFit/>
          </a:bodyPr>
          <a:lstStyle/>
          <a:p>
            <a:pPr>
              <a:spcBef>
                <a:spcPts val="500"/>
              </a:spcBef>
              <a:spcAft>
                <a:spcPts val="200"/>
              </a:spcAft>
            </a:pPr>
            <a:r>
              <a:rPr sz="850" b="1">
                <a:solidFill>
                  <a:srgbClr val="0B6EA8"/>
                </a:solidFill>
                <a:latin typeface="Arial"/>
              </a:rPr>
              <a:t>Analysis of the feasibility of the idea</a:t>
            </a:r>
          </a:p>
          <a:p>
            <a:pPr marL="146304" indent="-146304">
              <a:spcBef>
                <a:spcPts val="0"/>
              </a:spcBef>
              <a:spcAft>
                <a:spcPts val="250"/>
              </a:spcAft>
            </a:pPr>
            <a:r>
              <a:rPr sz="780" b="0">
                <a:solidFill>
                  <a:srgbClr val="1A1A1A"/>
                </a:solidFill>
                <a:latin typeface="Arial"/>
              </a:rPr>
              <a:t>•  Runs anywhere Python 3.10+ runs: no GPU, no cloud, no API key, no pip install — one command starts the clock and serves the dashboard.</a:t>
            </a:r>
          </a:p>
          <a:p>
            <a:pPr marL="146304" indent="-146304">
              <a:spcBef>
                <a:spcPts val="0"/>
              </a:spcBef>
              <a:spcAft>
                <a:spcPts val="250"/>
              </a:spcAft>
            </a:pPr>
            <a:r>
              <a:rPr sz="780" b="0">
                <a:solidFill>
                  <a:srgbClr val="1A1A1A"/>
                </a:solidFill>
                <a:latin typeface="Arial"/>
              </a:rPr>
              <a:t>•  Every demo knob (policy, seed, robot count, packet loss, radio delay, live cell block) is a browser control, so one terminal can run the whole demo in a hostile room.</a:t>
            </a:r>
          </a:p>
          <a:p>
            <a:pPr marL="146304" indent="-146304">
              <a:spcBef>
                <a:spcPts val="0"/>
              </a:spcBef>
              <a:spcAft>
                <a:spcPts val="250"/>
              </a:spcAft>
            </a:pPr>
            <a:r>
              <a:rPr sz="780" b="0">
                <a:solidFill>
                  <a:srgbClr val="1A1A1A"/>
                </a:solidFill>
                <a:latin typeface="Arial"/>
              </a:rPr>
              <a:t>•  Deterministic under fixed seeds: re-runs reproduce every decision metric exactly; only mean_robot_step_ms moves, because it is wall-clock.</a:t>
            </a:r>
          </a:p>
          <a:p>
            <a:pPr marL="146304" indent="-146304">
              <a:spcBef>
                <a:spcPts val="0"/>
              </a:spcBef>
              <a:spcAft>
                <a:spcPts val="250"/>
              </a:spcAft>
            </a:pPr>
            <a:r>
              <a:rPr sz="780" b="0">
                <a:solidFill>
                  <a:srgbClr val="1A1A1A"/>
                </a:solidFill>
                <a:latin typeface="Arial"/>
              </a:rPr>
              <a:t>•  Edge-deployable by construction: each robot is a self-contained agent with local state and a local planner, so the laptop and the future per-AMR Pi share one code path.</a:t>
            </a:r>
          </a:p>
          <a:p>
            <a:pPr>
              <a:spcBef>
                <a:spcPts val="500"/>
              </a:spcBef>
              <a:spcAft>
                <a:spcPts val="200"/>
              </a:spcAft>
            </a:pPr>
            <a:r>
              <a:rPr sz="850" b="1">
                <a:solidFill>
                  <a:srgbClr val="0B6EA8"/>
                </a:solidFill>
                <a:latin typeface="Arial"/>
              </a:rPr>
              <a:t>Potential challenges and risks</a:t>
            </a:r>
          </a:p>
          <a:p>
            <a:pPr marL="146304" indent="-146304">
              <a:spcBef>
                <a:spcPts val="0"/>
              </a:spcBef>
              <a:spcAft>
                <a:spcPts val="250"/>
              </a:spcAft>
            </a:pPr>
            <a:r>
              <a:rPr sz="780" b="0">
                <a:solidFill>
                  <a:srgbClr val="1A1A1A"/>
                </a:solidFill>
                <a:latin typeface="Arial"/>
              </a:rPr>
              <a:t>•  The radio, obstacle sensing, battery drain and edge CPU time are *simulated*: no real AMR, no Wi-Fi mesh, no on-robot inference is claimed; step time is a laptop-clock proxy.</a:t>
            </a:r>
          </a:p>
          <a:p>
            <a:pPr marL="146304" indent="-146304">
              <a:spcBef>
                <a:spcPts val="0"/>
              </a:spcBef>
              <a:spcAft>
                <a:spcPts val="250"/>
              </a:spcAft>
            </a:pPr>
            <a:r>
              <a:rPr sz="780" b="0">
                <a:solidFill>
                  <a:srgbClr val="1A1A1A"/>
                </a:solidFill>
                <a:latin typeface="Arial"/>
              </a:rPr>
              <a:t>•  Collisions are disclosed per experiment, not averaged away: 0 vs 2 in E1 (0 vs 0 in E2, 0 vs 0 in E3) (UBPA vs stop-and-wait). The measured win is deadlock removal and completion, never an absolute safety guarantee.</a:t>
            </a:r>
          </a:p>
          <a:p>
            <a:pPr marL="146304" indent="-146304">
              <a:spcBef>
                <a:spcPts val="0"/>
              </a:spcBef>
              <a:spcAft>
                <a:spcPts val="250"/>
              </a:spcAft>
            </a:pPr>
            <a:r>
              <a:rPr sz="780" b="0">
                <a:solidFill>
                  <a:srgbClr val="1A1A1A"/>
                </a:solidFill>
                <a:latin typeface="Arial"/>
              </a:rPr>
              <a:t>•  Radio delay is the case that justified one fix, and the trade-off is published: with age-filtered peer reservations off (RC2) a 3-tick delay still finishes 6/6 but at 94 ticks with 3 intention conflicts, because PEER_STALE_TICKS = 6 still trusted a 3-tick-stale path. Shipping RC2 costs those 9 ticks and removes the conflicts: 103 ticks, 0 conflicts. With all five fixes off the same delay stops at 3/6 tasks with 577 conflicts.</a:t>
            </a:r>
          </a:p>
          <a:p>
            <a:pPr marL="146304" indent="-146304">
              <a:spcBef>
                <a:spcPts val="0"/>
              </a:spcBef>
              <a:spcAft>
                <a:spcPts val="250"/>
              </a:spcAft>
            </a:pPr>
            <a:r>
              <a:rPr sz="780" b="0">
                <a:solidFill>
                  <a:srgbClr val="1A1A1A"/>
                </a:solidFill>
                <a:latin typeface="Arial"/>
              </a:rPr>
              <a:t>•  Scale ceiling is measured, not extrapolated: 3/6/8/10 robots (6/12/16/20 tasks) all finish, but the 8 robots / 16 tasks finish on 5/5 seeds at 327 ticks and the 8-robot case only stays alive because of RC5 — with RC5 off it stops at 14/16 tasks with 37 deadlocks. No 40-robot claim is made.</a:t>
            </a:r>
          </a:p>
          <a:p>
            <a:pPr marL="146304" indent="-146304">
              <a:spcBef>
                <a:spcPts val="0"/>
              </a:spcBef>
              <a:spcAft>
                <a:spcPts val="250"/>
              </a:spcAft>
            </a:pPr>
            <a:r>
              <a:rPr sz="780" b="0">
                <a:solidFill>
                  <a:srgbClr val="1A1A1A"/>
                </a:solidFill>
                <a:latin typeface="Arial"/>
              </a:rPr>
              <a:t>•  No percentage speed-up is published: the baseline never finished inside the 800-tick limit, so improvement is null and comparable is false. Tuning weights live in docs/methodology.md and are re-tuned per site.</a:t>
            </a:r>
          </a:p>
          <a:p>
            <a:pPr>
              <a:spcBef>
                <a:spcPts val="500"/>
              </a:spcBef>
              <a:spcAft>
                <a:spcPts val="200"/>
              </a:spcAft>
            </a:pPr>
            <a:r>
              <a:rPr sz="850" b="1">
                <a:solidFill>
                  <a:srgbClr val="0B6EA8"/>
                </a:solidFill>
                <a:latin typeface="Arial"/>
              </a:rPr>
              <a:t>Strategies for overcoming these challenges</a:t>
            </a:r>
          </a:p>
          <a:p>
            <a:pPr marL="146304" indent="-146304">
              <a:spcBef>
                <a:spcPts val="0"/>
              </a:spcBef>
              <a:spcAft>
                <a:spcPts val="250"/>
              </a:spcAft>
            </a:pPr>
            <a:r>
              <a:rPr sz="780" b="0">
                <a:solidFill>
                  <a:srgbClr val="1A1A1A"/>
                </a:solidFill>
                <a:latin typeface="Arial"/>
              </a:rPr>
              <a:t>•  Realism ladder: swap the simulated bus for UDP multicast and the grid for a real map behind the same PEER_STATE schema, so the interface survives the hardware change.</a:t>
            </a:r>
          </a:p>
          <a:p>
            <a:pPr marL="146304" indent="-146304">
              <a:spcBef>
                <a:spcPts val="0"/>
              </a:spcBef>
              <a:spcAft>
                <a:spcPts val="250"/>
              </a:spcAft>
            </a:pPr>
            <a:r>
              <a:rPr sz="780" b="0">
                <a:solidFill>
                  <a:srgbClr val="1A1A1A"/>
                </a:solidFill>
                <a:latin typeface="Arial"/>
              </a:rPr>
              <a:t>•  Deterministic safety net independent of the score: after STALEMATE_TICKS the lower robot_id yields, so stale state cannot freeze the aisle even if both peers are wrong.</a:t>
            </a:r>
          </a:p>
          <a:p>
            <a:pPr marL="146304" indent="-146304">
              <a:spcBef>
                <a:spcPts val="0"/>
              </a:spcBef>
              <a:spcAft>
                <a:spcPts val="250"/>
              </a:spcAft>
            </a:pPr>
            <a:r>
              <a:rPr sz="780" b="0">
                <a:solidFill>
                  <a:srgbClr val="1A1A1A"/>
                </a:solidFill>
                <a:latin typeface="Arial"/>
              </a:rPr>
              <a:t>•  Measurements are regenerated, never typed, and the live panel shows collisions, deadlocks and complete_tick side by side with the measured baseline — including the unflattering numbers.</a:t>
            </a:r>
          </a:p>
        </p:txBody>
      </p:sp>
      <p:sp>
        <p:nvSpPr>
          <p:cNvPr id="17417" name="Rounded Rectangle 17416"/>
          <p:cNvSpPr/>
          <p:nvPr/>
        </p:nvSpPr>
        <p:spPr>
          <a:xfrm>
            <a:off x="7178040" y="1152144"/>
            <a:ext cx="4572000" cy="507492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8" name="TextBox 17417"/>
          <p:cNvSpPr txBox="1"/>
          <p:nvPr/>
        </p:nvSpPr>
        <p:spPr>
          <a:xfrm>
            <a:off x="7269480" y="1188720"/>
            <a:ext cx="4389120" cy="237744"/>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MEASURED VS STOP-AND-WAIT — read from results/metrics.json</a:t>
            </a:r>
          </a:p>
        </p:txBody>
      </p:sp>
      <p:pic>
        <p:nvPicPr>
          <p:cNvPr id="17419" name="Picture 17418" descr="C_ubpa_live_live.png"/>
          <p:cNvPicPr>
            <a:picLocks noChangeAspect="1"/>
          </p:cNvPicPr>
          <p:nvPr/>
        </p:nvPicPr>
        <p:blipFill>
          <a:blip r:embed="rId4"/>
          <a:stretch>
            <a:fillRect/>
          </a:stretch>
        </p:blipFill>
        <p:spPr>
          <a:xfrm>
            <a:off x="7269480" y="1463040"/>
            <a:ext cx="1783080" cy="1409877"/>
          </a:xfrm>
          <a:prstGeom prst="rect">
            <a:avLst/>
          </a:prstGeom>
        </p:spPr>
      </p:pic>
      <p:sp>
        <p:nvSpPr>
          <p:cNvPr id="17420" name="TextBox 17419"/>
          <p:cNvSpPr txBox="1"/>
          <p:nvPr/>
        </p:nvSpPr>
        <p:spPr>
          <a:xfrm>
            <a:off x="7251192" y="2909493"/>
            <a:ext cx="1847088" cy="144475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LIVE RUN METERS — the same simulation a judge will drive: 6/6 tasks, 0 deadlocks, finished at tick 156, 0.127 ms per robot step.</a:t>
            </a:r>
          </a:p>
          <a:p>
            <a:pPr>
              <a:spcBef>
                <a:spcPts val="100"/>
              </a:spcBef>
              <a:spcAft>
                <a:spcPts val="0"/>
              </a:spcAft>
            </a:pPr>
            <a:r>
              <a:rPr sz="800" b="0">
                <a:solidFill>
                  <a:srgbClr val="525252"/>
                </a:solidFill>
                <a:latin typeface="Arial"/>
              </a:rPr>
              <a:t>Note it also shows collisions = 2. We print the unflattering number rather than hide it.</a:t>
            </a:r>
          </a:p>
        </p:txBody>
      </p:sp>
      <p:pic>
        <p:nvPicPr>
          <p:cNvPr id="17421" name="Picture 17420" descr="C_ubpa_measured_measured.png"/>
          <p:cNvPicPr>
            <a:picLocks noChangeAspect="1"/>
          </p:cNvPicPr>
          <p:nvPr/>
        </p:nvPicPr>
        <p:blipFill>
          <a:blip r:embed="rId5"/>
          <a:stretch>
            <a:fillRect/>
          </a:stretch>
        </p:blipFill>
        <p:spPr>
          <a:xfrm>
            <a:off x="9281160" y="1463040"/>
            <a:ext cx="2346260" cy="4160520"/>
          </a:xfrm>
          <a:prstGeom prst="rect">
            <a:avLst/>
          </a:prstGeom>
        </p:spPr>
      </p:pic>
      <p:sp>
        <p:nvSpPr>
          <p:cNvPr id="17422" name="TextBox 17421"/>
          <p:cNvSpPr txBox="1"/>
          <p:nvPr/>
        </p:nvSpPr>
        <p:spPr>
          <a:xfrm>
            <a:off x="9262872" y="5669280"/>
            <a:ext cx="2382836" cy="53035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Every value here is regenerated by python scripts/run_experiments.py — improvement is null, comparable is false.</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9"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411480" y="1152144"/>
            <a:ext cx="5532120" cy="5074920"/>
          </a:xfrm>
          <a:prstGeom prst="rect">
            <a:avLst/>
          </a:prstGeom>
          <a:noFill/>
        </p:spPr>
        <p:txBody>
          <a:bodyPr wrap="square" lIns="18288" rIns="18288" tIns="9144" bIns="9144" anchor="t">
            <a:spAutoFit/>
          </a:bodyPr>
          <a:lstStyle/>
          <a:p>
            <a:pPr>
              <a:spcBef>
                <a:spcPts val="500"/>
              </a:spcBef>
              <a:spcAft>
                <a:spcPts val="200"/>
              </a:spcAft>
            </a:pPr>
            <a:r>
              <a:rPr sz="1150" b="1">
                <a:solidFill>
                  <a:srgbClr val="0B6EA8"/>
                </a:solidFill>
                <a:latin typeface="Arial"/>
              </a:rPr>
              <a:t>Potential impact on the target audience</a:t>
            </a:r>
          </a:p>
          <a:p>
            <a:pPr marL="146304" indent="-146304">
              <a:spcBef>
                <a:spcPts val="0"/>
              </a:spcBef>
              <a:spcAft>
                <a:spcPts val="250"/>
              </a:spcAft>
            </a:pPr>
            <a:r>
              <a:rPr sz="1050" b="0">
                <a:solidFill>
                  <a:srgbClr val="1A1A1A"/>
                </a:solidFill>
                <a:latin typeface="Arial"/>
              </a:rPr>
              <a:t>•  Warehouse / 3PL operators running AMR fleets: the aisle keeps working when the fleet-management server, the Wi-Fi or one robot fails — the coordination lives inside the robots, so there is nothing central left to go down.</a:t>
            </a:r>
          </a:p>
          <a:p>
            <a:pPr marL="146304" indent="-146304">
              <a:spcBef>
                <a:spcPts val="0"/>
              </a:spcBef>
              <a:spcAft>
                <a:spcPts val="250"/>
              </a:spcAft>
            </a:pPr>
            <a:r>
              <a:rPr sz="1050" b="0">
                <a:solidFill>
                  <a:srgbClr val="1A1A1A"/>
                </a:solidFill>
                <a:latin typeface="Arial"/>
              </a:rPr>
              <a:t>•  Indian MSME warehouses, cold-chain and 3PL hubs (the target here is a Hyderabad 3PL floor): narrow rack aisles are exactly where a single occupancy model breaks, and where one 2-robot standoff costs a whole shift.</a:t>
            </a:r>
          </a:p>
          <a:p>
            <a:pPr marL="146304" indent="-146304">
              <a:spcBef>
                <a:spcPts val="0"/>
              </a:spcBef>
              <a:spcAft>
                <a:spcPts val="250"/>
              </a:spcAft>
            </a:pPr>
            <a:r>
              <a:rPr sz="1050" b="0">
                <a:solidFill>
                  <a:srgbClr val="1A1A1A"/>
                </a:solidFill>
                <a:latin typeface="Arial"/>
              </a:rPr>
              <a:t>•  Fleet integrators and AMR vendors: conflict resolution is one policy file behind the same broadcast schema, so UBPA drops into an existing stack without a dispatcher rewrite.</a:t>
            </a:r>
          </a:p>
          <a:p>
            <a:pPr marL="146304" indent="-146304">
              <a:spcBef>
                <a:spcPts val="0"/>
              </a:spcBef>
              <a:spcAft>
                <a:spcPts val="250"/>
              </a:spcAft>
            </a:pPr>
            <a:r>
              <a:rPr sz="1050" b="0">
                <a:solidFill>
                  <a:srgbClr val="1A1A1A"/>
                </a:solidFill>
                <a:latin typeface="Arial"/>
              </a:rPr>
              <a:t>•  The operator on the floor: click a cell or press BLOCK AISLE and the fleet re-plans around the real obstruction instead of waiting for a central map to be updated.</a:t>
            </a:r>
          </a:p>
          <a:p>
            <a:pPr>
              <a:spcBef>
                <a:spcPts val="500"/>
              </a:spcBef>
              <a:spcAft>
                <a:spcPts val="200"/>
              </a:spcAft>
            </a:pPr>
            <a:r>
              <a:rPr sz="1150" b="1">
                <a:solidFill>
                  <a:srgbClr val="0B6EA8"/>
                </a:solidFill>
                <a:latin typeface="Arial"/>
              </a:rPr>
              <a:t>Benefits of the solution (social, economic, environmental, etc.)</a:t>
            </a:r>
          </a:p>
          <a:p>
            <a:pPr marL="146304" indent="-146304">
              <a:spcBef>
                <a:spcPts val="0"/>
              </a:spcBef>
              <a:spcAft>
                <a:spcPts val="250"/>
              </a:spcAft>
            </a:pPr>
            <a:r>
              <a:rPr sz="1050" b="0">
                <a:solidFill>
                  <a:srgbClr val="1A1A1A"/>
                </a:solidFill>
                <a:latin typeface="Arial"/>
              </a:rPr>
              <a:t>•  Economic — throughput: 6/6 tasks vs 0/6 in E1, and a blocked aisle recovered in 99 ticks instead of never. Deadlock is downtime, so removing it is the return.</a:t>
            </a:r>
          </a:p>
          <a:p>
            <a:pPr marL="146304" indent="-146304">
              <a:spcBef>
                <a:spcPts val="0"/>
              </a:spcBef>
              <a:spcAft>
                <a:spcPts val="250"/>
              </a:spcAft>
            </a:pPr>
            <a:r>
              <a:rPr sz="1050" b="0">
                <a:solidFill>
                  <a:srgbClr val="1A1A1A"/>
                </a:solidFill>
                <a:latin typeface="Arial"/>
              </a:rPr>
              <a:t>•  Economic — deployment: standard library only, no GPU, no cloud, no licence, no service to configure; one edge computer per robot.</a:t>
            </a:r>
          </a:p>
          <a:p>
            <a:pPr marL="146304" indent="-146304">
              <a:spcBef>
                <a:spcPts val="0"/>
              </a:spcBef>
              <a:spcAft>
                <a:spcPts val="250"/>
              </a:spcAft>
            </a:pPr>
            <a:r>
              <a:rPr sz="1050" b="0">
                <a:solidFill>
                  <a:srgbClr val="1A1A1A"/>
                </a:solidFill>
                <a:latin typeface="Arial"/>
              </a:rPr>
              <a:t>•  Operational — degradation is bounded and measured: at 40% packet loss the fleet still finishes 6/6 with 0 deadlocks (137–196 ticks vs 93), at 3 ticks of delay it finishes in 103 ticks with 0 conflicts, and 8 robots / 16 tasks finish on 5/5 seeds at 327 ticks.</a:t>
            </a:r>
          </a:p>
          <a:p>
            <a:pPr marL="146304" indent="-146304">
              <a:spcBef>
                <a:spcPts val="0"/>
              </a:spcBef>
              <a:spcAft>
                <a:spcPts val="250"/>
              </a:spcAft>
            </a:pPr>
            <a:r>
              <a:rPr sz="1050" b="0">
                <a:solidFill>
                  <a:srgbClr val="1A1A1A"/>
                </a:solidFill>
                <a:latin typeface="Arial"/>
              </a:rPr>
              <a:t>•  Social — a safer floor: an explicit, explainable right-of-way rule plus a deterministic stalemate fallback replaces ad-hoc blocking, and every decision is visible on the peer radio feed.</a:t>
            </a:r>
          </a:p>
          <a:p>
            <a:pPr marL="146304" indent="-146304">
              <a:spcBef>
                <a:spcPts val="0"/>
              </a:spcBef>
              <a:spcAft>
                <a:spcPts val="250"/>
              </a:spcAft>
            </a:pPr>
            <a:r>
              <a:rPr sz="1050" b="0">
                <a:solidFill>
                  <a:srgbClr val="1A1A1A"/>
                </a:solidFill>
                <a:latin typeface="Arial"/>
              </a:rPr>
              <a:t>•  Environmental — indirect: less stalled idle running per completed task; total distance rises only because the baseline barely moves while UBPA actually finishes the work.</a:t>
            </a:r>
          </a:p>
          <a:p>
            <a:pPr marL="146304" indent="-146304">
              <a:spcBef>
                <a:spcPts val="0"/>
              </a:spcBef>
              <a:spcAft>
                <a:spcPts val="250"/>
              </a:spcAft>
            </a:pPr>
            <a:r>
              <a:rPr sz="1050" b="0">
                <a:solidFill>
                  <a:srgbClr val="1A1A1A"/>
                </a:solidFill>
                <a:latin typeface="Arial"/>
              </a:rPr>
              <a:t>•  Research value — the harness measures deadlocks, collisions, wait fraction, distance, communication latency and edge CPU time against a stop-and-wait baseline, so any future policy is judged on one scale.</a:t>
            </a:r>
          </a:p>
        </p:txBody>
      </p:sp>
      <p:sp>
        <p:nvSpPr>
          <p:cNvPr id="17411" name="Rounded Rectangle 17410"/>
          <p:cNvSpPr/>
          <p:nvPr/>
        </p:nvSpPr>
        <p:spPr>
          <a:xfrm>
            <a:off x="6126480" y="1152144"/>
            <a:ext cx="5623560" cy="507492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2" name="TextBox 17411"/>
          <p:cNvSpPr txBox="1"/>
          <p:nvPr/>
        </p:nvSpPr>
        <p:spPr>
          <a:xfrm>
            <a:off x="6263640" y="1225296"/>
            <a:ext cx="2697480" cy="310896"/>
          </a:xfrm>
          <a:prstGeom prst="rect">
            <a:avLst/>
          </a:prstGeom>
          <a:noFill/>
        </p:spPr>
        <p:txBody>
          <a:bodyPr wrap="square" lIns="18288" rIns="18288" tIns="9144" bIns="9144" anchor="t">
            <a:spAutoFit/>
          </a:bodyPr>
          <a:lstStyle/>
          <a:p>
            <a:pPr>
              <a:spcBef>
                <a:spcPts val="500"/>
              </a:spcBef>
              <a:spcAft>
                <a:spcPts val="200"/>
              </a:spcAft>
            </a:pPr>
            <a:r>
              <a:rPr sz="1150" b="1">
                <a:solidFill>
                  <a:srgbClr val="0B6EA8"/>
                </a:solidFill>
                <a:latin typeface="Arial"/>
              </a:rPr>
              <a:t>UBPA — tick 44</a:t>
            </a:r>
          </a:p>
        </p:txBody>
      </p:sp>
      <p:pic>
        <p:nvPicPr>
          <p:cNvPr id="17413" name="Picture 17412" descr="A_ubpa_floor_floor.png"/>
          <p:cNvPicPr>
            <a:picLocks noChangeAspect="1"/>
          </p:cNvPicPr>
          <p:nvPr/>
        </p:nvPicPr>
        <p:blipFill>
          <a:blip r:embed="rId4"/>
          <a:stretch>
            <a:fillRect/>
          </a:stretch>
        </p:blipFill>
        <p:spPr>
          <a:xfrm>
            <a:off x="6263640" y="1700784"/>
            <a:ext cx="2697480" cy="1246360"/>
          </a:xfrm>
          <a:prstGeom prst="rect">
            <a:avLst/>
          </a:prstGeom>
        </p:spPr>
      </p:pic>
      <p:sp>
        <p:nvSpPr>
          <p:cNvPr id="17414" name="TextBox 17413"/>
          <p:cNvSpPr txBox="1"/>
          <p:nvPr/>
        </p:nvSpPr>
        <p:spPr>
          <a:xfrm>
            <a:off x="6263640" y="2992864"/>
            <a:ext cx="2697480" cy="71323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3 of 6 tasks done, 0 deadlocks, 0 stalemates. R1 and R3 met head-on and resolved it through a turnout.</a:t>
            </a:r>
          </a:p>
        </p:txBody>
      </p:sp>
      <p:sp>
        <p:nvSpPr>
          <p:cNvPr id="17415" name="TextBox 17414"/>
          <p:cNvSpPr txBox="1"/>
          <p:nvPr/>
        </p:nvSpPr>
        <p:spPr>
          <a:xfrm>
            <a:off x="9052560" y="1225296"/>
            <a:ext cx="2697480" cy="310896"/>
          </a:xfrm>
          <a:prstGeom prst="rect">
            <a:avLst/>
          </a:prstGeom>
          <a:noFill/>
        </p:spPr>
        <p:txBody>
          <a:bodyPr wrap="square" lIns="18288" rIns="18288" tIns="9144" bIns="9144" anchor="t">
            <a:spAutoFit/>
          </a:bodyPr>
          <a:lstStyle/>
          <a:p>
            <a:pPr>
              <a:spcBef>
                <a:spcPts val="500"/>
              </a:spcBef>
              <a:spcAft>
                <a:spcPts val="200"/>
              </a:spcAft>
            </a:pPr>
            <a:r>
              <a:rPr sz="1150" b="1">
                <a:solidFill>
                  <a:srgbClr val="0B6EA8"/>
                </a:solidFill>
                <a:latin typeface="Arial"/>
              </a:rPr>
              <a:t>STOP-AND-WAIT — tick 44</a:t>
            </a:r>
          </a:p>
        </p:txBody>
      </p:sp>
      <p:pic>
        <p:nvPicPr>
          <p:cNvPr id="17416" name="Picture 17415" descr="A_sw_floor_floor.png"/>
          <p:cNvPicPr>
            <a:picLocks noChangeAspect="1"/>
          </p:cNvPicPr>
          <p:nvPr/>
        </p:nvPicPr>
        <p:blipFill>
          <a:blip r:embed="rId5"/>
          <a:stretch>
            <a:fillRect/>
          </a:stretch>
        </p:blipFill>
        <p:spPr>
          <a:xfrm>
            <a:off x="9052560" y="1700784"/>
            <a:ext cx="2697480" cy="1246360"/>
          </a:xfrm>
          <a:prstGeom prst="rect">
            <a:avLst/>
          </a:prstGeom>
        </p:spPr>
      </p:pic>
      <p:sp>
        <p:nvSpPr>
          <p:cNvPr id="17417" name="TextBox 17416"/>
          <p:cNvSpPr txBox="1"/>
          <p:nvPr/>
        </p:nvSpPr>
        <p:spPr>
          <a:xfrm>
            <a:off x="9052560" y="2992864"/>
            <a:ext cx="2697480" cy="713232"/>
          </a:xfrm>
          <a:prstGeom prst="rect">
            <a:avLst/>
          </a:prstGeom>
          <a:noFill/>
        </p:spPr>
        <p:txBody>
          <a:bodyPr wrap="square" lIns="18288" rIns="18288" tIns="9144" bIns="9144" anchor="t">
            <a:spAutoFit/>
          </a:bodyPr>
          <a:lstStyle/>
          <a:p>
            <a:pPr>
              <a:spcBef>
                <a:spcPts val="100"/>
              </a:spcBef>
              <a:spcAft>
                <a:spcPts val="0"/>
              </a:spcAft>
            </a:pPr>
            <a:r>
              <a:rPr sz="800" b="0">
                <a:solidFill>
                  <a:srgbClr val="525252"/>
                </a:solidFill>
                <a:latin typeface="Arial"/>
              </a:rPr>
              <a:t>0 of 6 tasks done, 2 deadlocks. R1 and R3 meet in the aisle and neither yields — the aisle is frozen.</a:t>
            </a:r>
          </a:p>
        </p:txBody>
      </p:sp>
      <p:sp>
        <p:nvSpPr>
          <p:cNvPr id="17418" name="Rounded Rectangle 17417"/>
          <p:cNvSpPr/>
          <p:nvPr/>
        </p:nvSpPr>
        <p:spPr>
          <a:xfrm>
            <a:off x="6263640" y="3675887"/>
            <a:ext cx="5486400" cy="2395728"/>
          </a:xfrm>
          <a:prstGeom prst="roundRect">
            <a:avLst>
              <a:gd name="adj" fmla="val 6000"/>
            </a:avLst>
          </a:prstGeom>
          <a:solidFill>
            <a:srgbClr val="E8F1F8"/>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9" name="TextBox 17418"/>
          <p:cNvSpPr txBox="1"/>
          <p:nvPr/>
        </p:nvSpPr>
        <p:spPr>
          <a:xfrm>
            <a:off x="6355080" y="3749039"/>
            <a:ext cx="5303520" cy="2249424"/>
          </a:xfrm>
          <a:prstGeom prst="rect">
            <a:avLst/>
          </a:prstGeom>
          <a:noFill/>
        </p:spPr>
        <p:txBody>
          <a:bodyPr wrap="square" lIns="18288" rIns="18288" tIns="9144" bIns="9144" anchor="t">
            <a:spAutoFit/>
          </a:bodyPr>
          <a:lstStyle/>
          <a:p>
            <a:pPr>
              <a:spcBef>
                <a:spcPts val="500"/>
              </a:spcBef>
              <a:spcAft>
                <a:spcPts val="200"/>
              </a:spcAft>
            </a:pPr>
            <a:r>
              <a:rPr sz="1380" b="1">
                <a:solidFill>
                  <a:srgbClr val="0B6EA8"/>
                </a:solidFill>
                <a:latin typeface="Arial"/>
              </a:rPr>
              <a:t>Same seed, same map, same tick — only the conflict policy differs</a:t>
            </a:r>
          </a:p>
          <a:p>
            <a:pPr marL="146304" indent="-146304">
              <a:spcBef>
                <a:spcPts val="0"/>
              </a:spcBef>
              <a:spcAft>
                <a:spcPts val="250"/>
              </a:spcAft>
            </a:pPr>
            <a:r>
              <a:rPr sz="1260" b="0">
                <a:solidFill>
                  <a:srgbClr val="1A1A1A"/>
                </a:solidFill>
                <a:latin typeface="Arial"/>
              </a:rPr>
              <a:t>•  E1 throughput, 5 seeds: UBPA finishes at tick 93 with 6/6 tasks and 0 deadlocks; stop-and-wait hits the 800-tick limit with 0/6 tasks and 2 deadlocks.</a:t>
            </a:r>
          </a:p>
          <a:p>
            <a:pPr marL="146304" indent="-146304">
              <a:spcBef>
                <a:spcPts val="0"/>
              </a:spcBef>
              <a:spcAft>
                <a:spcPts val="250"/>
              </a:spcAft>
            </a:pPr>
            <a:r>
              <a:rPr sz="1260" b="0">
                <a:solidFill>
                  <a:srgbClr val="1A1A1A"/>
                </a:solidFill>
                <a:latin typeface="Arial"/>
              </a:rPr>
              <a:t>•  E3, aisle blocked at tick 16: UBPA recovers in 99 ticks with 6/6 tasks and 0 deadlocks; the baseline strands at 3/6 with 3 deadlocks.</a:t>
            </a:r>
          </a:p>
          <a:p>
            <a:pPr marL="146304" indent="-146304">
              <a:spcBef>
                <a:spcPts val="0"/>
              </a:spcBef>
              <a:spcAft>
                <a:spcPts val="250"/>
              </a:spcAft>
            </a:pPr>
            <a:r>
              <a:rPr sz="1260" b="0">
                <a:solidFill>
                  <a:srgbClr val="1A1A1A"/>
                </a:solidFill>
                <a:latin typeface="Arial"/>
              </a:rPr>
              <a:t>•  Disclosed, not hidden: collisions per experiment are 0 vs 2 in E1 (0 vs 0 in E2, 0 vs 0 in E3) (UBPA vs stop-and-wait). We claim deadlock removal and completion — not a collision-safety win.</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wrap="square"/>
          <a:lstStyle/>
          <a:p>
            <a:pPr algn="ctr">
              <a:spcBef>
                <a:spcPts val="100"/>
              </a:spcBef>
              <a:spcAft>
                <a:spcPts val="0"/>
              </a:spcAft>
            </a:pPr>
            <a:r>
              <a:rPr sz="900" b="1">
                <a:solidFill>
                  <a:srgbClr val="A61B1B"/>
                </a:solidFill>
                <a:latin typeface="Arial"/>
              </a:rPr>
              <a:t>«Team Name»</a:t>
            </a:r>
            <a:endParaRPr lang="en-IN" dirty="0"/>
          </a:p>
        </p:txBody>
      </p:sp>
      <p:pic>
        <p:nvPicPr>
          <p:cNvPr id="11" name="Picture 2" descr="https://www.sih.gov.in/img1/SIH-Logo.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41366" y="57097"/>
            <a:ext cx="2209120" cy="1122868"/>
          </a:xfrm>
          <a:prstGeom prst="rect">
            <a:avLst/>
          </a:prstGeom>
          <a:noFill/>
          <a:extLst>
            <a:ext uri="{909E8E84-426E-40DD-AFC4-6F175D3DCCD1}">
              <a14:hiddenFill xmlns:a14="http://schemas.microsoft.com/office/drawing/2010/main">
                <a:solidFill>
                  <a:srgbClr val="FFFFFF"/>
                </a:solidFill>
              </a14:hiddenFill>
            </a:ext>
          </a:extLst>
        </p:spPr>
      </p:pic>
      <p:sp>
        <p:nvSpPr>
          <p:cNvPr id="17410" name="TextBox 17409"/>
          <p:cNvSpPr txBox="1"/>
          <p:nvPr/>
        </p:nvSpPr>
        <p:spPr>
          <a:xfrm>
            <a:off x="411480" y="1115568"/>
            <a:ext cx="5669280" cy="5120640"/>
          </a:xfrm>
          <a:prstGeom prst="rect">
            <a:avLst/>
          </a:prstGeom>
          <a:noFill/>
        </p:spPr>
        <p:txBody>
          <a:bodyPr wrap="square" lIns="18288" rIns="18288" tIns="9144" bIns="9144" anchor="t">
            <a:spAutoFit/>
          </a:bodyPr>
          <a:lstStyle/>
          <a:p>
            <a:pPr>
              <a:spcBef>
                <a:spcPts val="500"/>
              </a:spcBef>
              <a:spcAft>
                <a:spcPts val="200"/>
              </a:spcAft>
            </a:pPr>
            <a:r>
              <a:rPr sz="1500" b="1">
                <a:solidFill>
                  <a:srgbClr val="0B6EA8"/>
                </a:solidFill>
                <a:latin typeface="Arial"/>
              </a:rPr>
              <a:t>Details / Links of the reference and research work</a:t>
            </a:r>
          </a:p>
          <a:p>
            <a:pPr marL="146304" indent="-146304">
              <a:spcBef>
                <a:spcPts val="0"/>
              </a:spcBef>
              <a:spcAft>
                <a:spcPts val="250"/>
              </a:spcAft>
            </a:pPr>
            <a:r>
              <a:rPr sz="1370" b="0">
                <a:solidFill>
                  <a:srgbClr val="1A1A1A"/>
                </a:solidFill>
                <a:latin typeface="Arial"/>
              </a:rPr>
              <a:t>•  Problem statement SIH26123 — Edge-AI Based Distributed Fleet Coordination for Autonomous Mobile Robots in Smart Warehouses · Bharat Electronics Limited · Software · Theme: Robotics and Drones — sih.gov.in</a:t>
            </a:r>
          </a:p>
          <a:p>
            <a:pPr marL="146304" indent="-146304">
              <a:spcBef>
                <a:spcPts val="0"/>
              </a:spcBef>
              <a:spcAft>
                <a:spcPts val="250"/>
              </a:spcAft>
            </a:pPr>
            <a:r>
              <a:rPr sz="1370" b="0">
                <a:solidFill>
                  <a:srgbClr val="1A1A1A"/>
                </a:solidFill>
                <a:latin typeface="Arial"/>
              </a:rPr>
              <a:t>•  Stern, Sturtevant, Felner, Koenig, Ma, Walker, Li, Atzmon, Cohen, Kumar, Boyarski, Barták (2019), “Multi-Agent Pathfinding: Definitions, Variants, and Benchmarks”, arXiv:1906.08291 — the MAPF framing our planner sits in.</a:t>
            </a:r>
          </a:p>
          <a:p>
            <a:pPr marL="146304" indent="-146304">
              <a:spcBef>
                <a:spcPts val="0"/>
              </a:spcBef>
              <a:spcAft>
                <a:spcPts val="250"/>
              </a:spcAft>
            </a:pPr>
            <a:r>
              <a:rPr sz="1370" b="0">
                <a:solidFill>
                  <a:srgbClr val="1A1A1A"/>
                </a:solidFill>
                <a:latin typeface="Arial"/>
              </a:rPr>
              <a:t>•  Silver (2005), “Cooperative Pathfinding”, AIIDE-05, pp. 117–122 — the original decentralized conflict-resolution formulation our yield stage builds on.</a:t>
            </a:r>
          </a:p>
          <a:p>
            <a:pPr marL="146304" indent="-146304">
              <a:spcBef>
                <a:spcPts val="0"/>
              </a:spcBef>
              <a:spcAft>
                <a:spcPts val="250"/>
              </a:spcAft>
            </a:pPr>
            <a:r>
              <a:rPr sz="1370" b="0">
                <a:solidFill>
                  <a:srgbClr val="1A1A1A"/>
                </a:solidFill>
                <a:latin typeface="Arial"/>
              </a:rPr>
              <a:t>•  Sharon, Stern, Felner, Sturtevant (2015), “Conflict-Based Search for Optimal Multi-Agent Pathfinding”, Artificial Intelligence 219:40–66 — the centralized optimum we deliberately do NOT depend on.</a:t>
            </a:r>
          </a:p>
          <a:p>
            <a:pPr marL="146304" indent="-146304">
              <a:spcBef>
                <a:spcPts val="0"/>
              </a:spcBef>
              <a:spcAft>
                <a:spcPts val="250"/>
              </a:spcAft>
            </a:pPr>
            <a:r>
              <a:rPr sz="1370" b="0">
                <a:solidFill>
                  <a:srgbClr val="1A1A1A"/>
                </a:solidFill>
                <a:latin typeface="Arial"/>
              </a:rPr>
              <a:t>•  VDA 5050 — the industry interface standard (MQTT/JSON) between AMRs/AGVs and a master control system; it is the boundary our edge deployment would speak at, not the coordination we use.</a:t>
            </a:r>
          </a:p>
          <a:p>
            <a:pPr marL="146304" indent="-146304">
              <a:spcBef>
                <a:spcPts val="0"/>
              </a:spcBef>
              <a:spcAft>
                <a:spcPts val="250"/>
              </a:spcAft>
            </a:pPr>
            <a:r>
              <a:rPr sz="1370" b="0">
                <a:solidFill>
                  <a:srgbClr val="1A1A1A"/>
                </a:solidFill>
                <a:latin typeface="Arial"/>
              </a:rPr>
              <a:t>•  Warehouse AMR fleet practice — our own problem analysis of the central-dispatcher failure mode, and the Hyderabad 3PL layout (narrow rack aisles, two highways, depot and drop) used as the test floor.</a:t>
            </a:r>
          </a:p>
        </p:txBody>
      </p:sp>
      <p:sp>
        <p:nvSpPr>
          <p:cNvPr id="17411" name="Rounded Rectangle 17410"/>
          <p:cNvSpPr/>
          <p:nvPr/>
        </p:nvSpPr>
        <p:spPr>
          <a:xfrm>
            <a:off x="6217920" y="1115568"/>
            <a:ext cx="5532120" cy="5120640"/>
          </a:xfrm>
          <a:prstGeom prst="roundRect">
            <a:avLst>
              <a:gd name="adj" fmla="val 6000"/>
            </a:avLst>
          </a:prstGeom>
          <a:solidFill>
            <a:srgbClr val="F4F8FB"/>
          </a:solidFill>
          <a:ln w="9525">
            <a:solidFill>
              <a:srgbClr val="C0D8E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412" name="TextBox 17411"/>
          <p:cNvSpPr txBox="1"/>
          <p:nvPr/>
        </p:nvSpPr>
        <p:spPr>
          <a:xfrm>
            <a:off x="6355080" y="1225296"/>
            <a:ext cx="5257800" cy="4901184"/>
          </a:xfrm>
          <a:prstGeom prst="rect">
            <a:avLst/>
          </a:prstGeom>
          <a:noFill/>
        </p:spPr>
        <p:txBody>
          <a:bodyPr wrap="square" lIns="18288" rIns="18288" tIns="9144" bIns="9144" anchor="t">
            <a:spAutoFit/>
          </a:bodyPr>
          <a:lstStyle/>
          <a:p>
            <a:pPr>
              <a:spcBef>
                <a:spcPts val="500"/>
              </a:spcBef>
              <a:spcAft>
                <a:spcPts val="200"/>
              </a:spcAft>
            </a:pPr>
            <a:r>
              <a:rPr sz="1430" b="1">
                <a:solidFill>
                  <a:srgbClr val="0B6EA8"/>
                </a:solidFill>
                <a:latin typeface="Arial"/>
              </a:rPr>
              <a:t>Method, our own research artefacts, and how to reproduce every number</a:t>
            </a:r>
          </a:p>
          <a:p>
            <a:pPr marL="146304" indent="-146304">
              <a:spcBef>
                <a:spcPts val="0"/>
              </a:spcBef>
              <a:spcAft>
                <a:spcPts val="250"/>
              </a:spcAft>
            </a:pPr>
            <a:r>
              <a:rPr sz="1300" b="0">
                <a:solidFill>
                  <a:srgbClr val="1A1A1A"/>
                </a:solidFill>
                <a:latin typeface="Arial"/>
              </a:rPr>
              <a:t>•  Decentralization is enforced by test, not by promise: python -m unittest tests.test_mandatory runs 9 tests, including the two forbidden patterns — “no central scheduler” and “no hardcoded winner”.</a:t>
            </a:r>
          </a:p>
          <a:p>
            <a:pPr marL="146304" indent="-146304">
              <a:spcBef>
                <a:spcPts val="0"/>
              </a:spcBef>
              <a:spcAft>
                <a:spcPts val="250"/>
              </a:spcAft>
            </a:pPr>
            <a:r>
              <a:rPr sz="1300" b="0">
                <a:solidFill>
                  <a:srgbClr val="1A1A1A"/>
                </a:solidFill>
                <a:latin typeface="Arial"/>
              </a:rPr>
              <a:t>•  Every number in this deck is regenerated by python scripts/run_experiments.py into results/metrics.json (tick limit 800, fixed seeds, means across seeds). The dashboard only reads that file; no metric string is typed into the UI.</a:t>
            </a:r>
          </a:p>
          <a:p>
            <a:pPr marL="146304" indent="-146304">
              <a:spcBef>
                <a:spcPts val="0"/>
              </a:spcBef>
              <a:spcAft>
                <a:spcPts val="250"/>
              </a:spcAft>
            </a:pPr>
            <a:r>
              <a:rPr sz="1300" b="0">
                <a:solidFill>
                  <a:srgbClr val="1A1A1A"/>
                </a:solidFill>
                <a:latin typeface="Arial"/>
              </a:rPr>
              <a:t>•  Reproduce it: python scripts/run_demo.py (live 8 Hz, default http://127.0.0.1:8765/) · python scripts/run_experiments.py · python -m unittest tests.test_mandatory.</a:t>
            </a:r>
          </a:p>
          <a:p>
            <a:pPr marL="146304" indent="-146304">
              <a:spcBef>
                <a:spcPts val="0"/>
              </a:spcBef>
              <a:spcAft>
                <a:spcPts val="250"/>
              </a:spcAft>
            </a:pPr>
            <a:r>
              <a:rPr sz="1300" b="0">
                <a:solidFill>
                  <a:srgbClr val="1A1A1A"/>
                </a:solidFill>
                <a:latin typeface="Arial"/>
              </a:rPr>
              <a:t>•  Our artefacts: docs/architecture.md (what is centralized vs not), docs/methodology.md (planner, auction cost, UBPA weights, baseline), docs/evaluation.md (per-seed tables, known limitations), docs/mandatory_requirements.md (10 musts + 4 forbidden patterns).</a:t>
            </a:r>
          </a:p>
          <a:p>
            <a:pPr marL="146304" indent="-146304">
              <a:spcBef>
                <a:spcPts val="0"/>
              </a:spcBef>
              <a:spcAft>
                <a:spcPts val="250"/>
              </a:spcAft>
            </a:pPr>
            <a:r>
              <a:rPr sz="1300" b="0">
                <a:solidFill>
                  <a:srgbClr val="1A1A1A"/>
                </a:solidFill>
                <a:latin typeface="Arial"/>
              </a:rPr>
              <a:t>•  No improvement percentage is claimed: results/metrics.json carries improvement: null and comparable: false, because the baseline never finished inside the tick limit.</a:t>
            </a:r>
          </a:p>
          <a:p>
            <a:pPr marL="146304" indent="-146304">
              <a:spcBef>
                <a:spcPts val="0"/>
              </a:spcBef>
              <a:spcAft>
                <a:spcPts val="250"/>
              </a:spcAft>
            </a:pPr>
            <a:r>
              <a:rPr sz="1300" b="0">
                <a:solidFill>
                  <a:srgbClr val="1A1A1A"/>
                </a:solidFill>
                <a:latin typeface="Arial"/>
              </a:rPr>
              <a:t>•  Every screenshot in this deck is the running prototype at 127.0.0.1:8765 — no mock-ups and no re-drawn UI.</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7487</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2025</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147</cp:revision>
  <dcterms:created xsi:type="dcterms:W3CDTF">2013-12-12T18:46:50Z</dcterms:created>
  <dcterms:modified xsi:type="dcterms:W3CDTF">2025-06-26T06:39:00Z</dcterms:modified>
  <cp:category/>
</cp:coreProperties>
</file>